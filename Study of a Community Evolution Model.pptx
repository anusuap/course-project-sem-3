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256" r:id="rId5"/>
    <p:sldId id="257" r:id="rId6"/>
    <p:sldId id="260" r:id="rId7"/>
    <p:sldId id="286" r:id="rId8"/>
    <p:sldId id="258" r:id="rId9"/>
    <p:sldId id="261" r:id="rId10"/>
    <p:sldId id="262" r:id="rId11"/>
    <p:sldId id="287" r:id="rId12"/>
    <p:sldId id="288" r:id="rId13"/>
    <p:sldId id="283" r:id="rId14"/>
    <p:sldId id="264" r:id="rId15"/>
    <p:sldId id="266" r:id="rId16"/>
    <p:sldId id="284" r:id="rId17"/>
    <p:sldId id="289" r:id="rId18"/>
    <p:sldId id="267" r:id="rId19"/>
    <p:sldId id="26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4A3096C-19D8-45E6-90FA-46CE904BDFFF}">
          <p14:sldIdLst>
            <p14:sldId id="256"/>
          </p14:sldIdLst>
        </p14:section>
        <p14:section name="Untitled Section" id="{A1C7C406-F06C-4C93-B11B-0AFDD6645F0D}">
          <p14:sldIdLst>
            <p14:sldId id="257"/>
            <p14:sldId id="260"/>
            <p14:sldId id="286"/>
            <p14:sldId id="258"/>
            <p14:sldId id="261"/>
            <p14:sldId id="262"/>
            <p14:sldId id="287"/>
            <p14:sldId id="288"/>
            <p14:sldId id="283"/>
            <p14:sldId id="264"/>
            <p14:sldId id="266"/>
            <p14:sldId id="284"/>
            <p14:sldId id="289"/>
            <p14:sldId id="267"/>
            <p14:sldId id="26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9B47A2-AC36-471C-8712-D0E7FD9B2AB1}" v="766" dt="2025-11-09T15:21:11.8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3763"/>
    </p:cViewPr>
  </p:sorter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11/9/2025</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11/9/2025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2761488" y="2395728"/>
            <a:ext cx="9153704" cy="1243584"/>
          </a:xfrm>
        </p:spPr>
        <p:txBody>
          <a:bodyPr/>
          <a:lstStyle/>
          <a:p>
            <a:r>
              <a:rPr lang="en-US" sz="4400" dirty="0">
                <a:solidFill>
                  <a:schemeClr val="bg1"/>
                </a:solidFill>
                <a:latin typeface="Bahnschrift Light SemiCondensed" panose="020B0502040204020203" pitchFamily="34" charset="0"/>
              </a:rPr>
              <a:t>Study of a Community Evolution Model</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832104" y="1231641"/>
            <a:ext cx="7781544" cy="802432"/>
          </a:xfrm>
        </p:spPr>
        <p:txBody>
          <a:bodyPr>
            <a:normAutofit/>
          </a:bodyPr>
          <a:lstStyle/>
          <a:p>
            <a:r>
              <a:rPr lang="en-US" sz="4400" dirty="0">
                <a:latin typeface="Bahnschrift Light SemiCondensed" panose="020B0502040204020203" pitchFamily="34" charset="0"/>
              </a:rPr>
              <a:t>Introduction </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
        <p:nvSpPr>
          <p:cNvPr id="6" name="TextBox 5">
            <a:extLst>
              <a:ext uri="{FF2B5EF4-FFF2-40B4-BE49-F238E27FC236}">
                <a16:creationId xmlns:a16="http://schemas.microsoft.com/office/drawing/2014/main" id="{ED8DE4E3-C9B3-FCD2-11BB-68B70DF27582}"/>
              </a:ext>
            </a:extLst>
          </p:cNvPr>
          <p:cNvSpPr txBox="1"/>
          <p:nvPr/>
        </p:nvSpPr>
        <p:spPr>
          <a:xfrm>
            <a:off x="727788" y="2276669"/>
            <a:ext cx="7520473" cy="2862322"/>
          </a:xfrm>
          <a:prstGeom prst="rect">
            <a:avLst/>
          </a:prstGeom>
          <a:noFill/>
        </p:spPr>
        <p:txBody>
          <a:bodyPr wrap="square" rtlCol="0">
            <a:spAutoFit/>
          </a:bodyPr>
          <a:lstStyle/>
          <a:p>
            <a:pPr marL="285750" indent="-285750">
              <a:buClr>
                <a:schemeClr val="bg1"/>
              </a:buClr>
              <a:buFont typeface="Wingdings" panose="05000000000000000000" pitchFamily="2" charset="2"/>
              <a:buChar char="q"/>
            </a:pPr>
            <a:r>
              <a:rPr lang="en-US" sz="2000" dirty="0">
                <a:solidFill>
                  <a:schemeClr val="bg1"/>
                </a:solidFill>
              </a:rPr>
              <a:t>Community Evolution Theory has wide ranging application in the field of environmental science, biology, social evolution theory, behavioral science etc.</a:t>
            </a:r>
          </a:p>
          <a:p>
            <a:pPr marL="285750" indent="-285750">
              <a:buClr>
                <a:schemeClr val="bg1"/>
              </a:buClr>
              <a:buFont typeface="Wingdings" panose="05000000000000000000" pitchFamily="2" charset="2"/>
              <a:buChar char="q"/>
            </a:pPr>
            <a:endParaRPr lang="en-US" sz="2000" dirty="0">
              <a:solidFill>
                <a:schemeClr val="bg1"/>
              </a:solidFill>
            </a:endParaRPr>
          </a:p>
          <a:p>
            <a:pPr marL="285750" indent="-285750">
              <a:buClr>
                <a:schemeClr val="bg1"/>
              </a:buClr>
              <a:buFont typeface="Wingdings" panose="05000000000000000000" pitchFamily="2" charset="2"/>
              <a:buChar char="q"/>
            </a:pPr>
            <a:r>
              <a:rPr lang="en-US" sz="2000" dirty="0">
                <a:solidFill>
                  <a:schemeClr val="bg1"/>
                </a:solidFill>
              </a:rPr>
              <a:t>It can be studied through different approaches, such as, game theory, urn theory, graph and network modelling, simulation study etc. For example, in some cases game theoretic approach has been used to study a disease propagation model.</a:t>
            </a:r>
            <a:endParaRPr lang="en-IN" sz="2000" dirty="0">
              <a:solidFill>
                <a:schemeClr val="bg1"/>
              </a:solidFill>
            </a:endParaRPr>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832104" y="802433"/>
            <a:ext cx="7781544" cy="830424"/>
          </a:xfrm>
        </p:spPr>
        <p:txBody>
          <a:bodyPr>
            <a:normAutofit/>
          </a:bodyPr>
          <a:lstStyle/>
          <a:p>
            <a:r>
              <a:rPr lang="en-US" sz="4400" dirty="0">
                <a:latin typeface="Bahnschrift Light SemiCondensed" panose="020B0502040204020203" pitchFamily="34" charset="0"/>
              </a:rPr>
              <a:t>Model Description</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DCDDBE65-9AB1-4989-AF86-726591A6A128}"/>
                  </a:ext>
                </a:extLst>
              </p:cNvPr>
              <p:cNvSpPr>
                <a:spLocks noGrp="1"/>
              </p:cNvSpPr>
              <p:nvPr>
                <p:ph type="body" idx="1"/>
              </p:nvPr>
            </p:nvSpPr>
            <p:spPr>
              <a:xfrm>
                <a:off x="831849" y="1632857"/>
                <a:ext cx="10168943" cy="4422710"/>
              </a:xfrm>
            </p:spPr>
            <p:txBody>
              <a:bodyPr>
                <a:noAutofit/>
              </a:bodyPr>
              <a:lstStyle/>
              <a:p>
                <a:pPr marL="285750" indent="-285750">
                  <a:buClr>
                    <a:schemeClr val="bg1"/>
                  </a:buClr>
                  <a:buFont typeface="Wingdings" panose="05000000000000000000" pitchFamily="2" charset="2"/>
                  <a:buChar char="q"/>
                </a:pPr>
                <a:r>
                  <a:rPr lang="en-US" sz="2000" dirty="0">
                    <a:solidFill>
                      <a:schemeClr val="bg1"/>
                    </a:solidFill>
                  </a:rPr>
                  <a:t>Suppose we have finite number of communities (say {</a:t>
                </a:r>
                <a14:m>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𝑐</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𝑐</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𝑐</m:t>
                        </m:r>
                      </m:e>
                      <m:sub>
                        <m:r>
                          <a:rPr lang="en-US" sz="2000" b="0" i="1" smtClean="0">
                            <a:solidFill>
                              <a:schemeClr val="bg1"/>
                            </a:solidFill>
                            <a:latin typeface="Cambria Math" panose="02040503050406030204" pitchFamily="18" charset="0"/>
                          </a:rPr>
                          <m:t>𝑙</m:t>
                        </m:r>
                      </m:sub>
                    </m:sSub>
                  </m:oMath>
                </a14:m>
                <a:r>
                  <a:rPr lang="en-US" sz="2000" dirty="0">
                    <a:solidFill>
                      <a:schemeClr val="bg1"/>
                    </a:solidFill>
                  </a:rPr>
                  <a:t>} </a:t>
                </a:r>
                <a14:m>
                  <m:oMath xmlns:m="http://schemas.openxmlformats.org/officeDocument/2006/math">
                    <m:r>
                      <a:rPr lang="en-US" sz="2000" b="0" i="1" smtClean="0">
                        <a:solidFill>
                          <a:schemeClr val="bg1"/>
                        </a:solidFill>
                        <a:latin typeface="Cambria Math" panose="02040503050406030204" pitchFamily="18" charset="0"/>
                      </a:rPr>
                      <m:t>𝑙</m:t>
                    </m:r>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𝑁</m:t>
                    </m:r>
                  </m:oMath>
                </a14:m>
                <a:r>
                  <a:rPr lang="en-US" sz="2000" dirty="0">
                    <a:solidFill>
                      <a:schemeClr val="bg1"/>
                    </a:solidFill>
                  </a:rPr>
                  <a:t>) and finite number of types (say {</a:t>
                </a:r>
                <a14:m>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𝜃</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𝜃</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𝜃</m:t>
                        </m:r>
                      </m:e>
                      <m:sub>
                        <m:r>
                          <a:rPr lang="en-US" sz="2000" b="0" i="1" smtClean="0">
                            <a:solidFill>
                              <a:schemeClr val="bg1"/>
                            </a:solidFill>
                            <a:latin typeface="Cambria Math" panose="02040503050406030204" pitchFamily="18" charset="0"/>
                          </a:rPr>
                          <m:t>𝑘</m:t>
                        </m:r>
                      </m:sub>
                    </m:sSub>
                    <m:r>
                      <a:rPr lang="en-US" sz="2000" b="0" i="1" smtClean="0">
                        <a:solidFill>
                          <a:schemeClr val="bg1"/>
                        </a:solidFill>
                        <a:latin typeface="Cambria Math" panose="02040503050406030204" pitchFamily="18" charset="0"/>
                      </a:rPr>
                      <m:t>} </m:t>
                    </m:r>
                    <m:r>
                      <a:rPr lang="en-US" sz="2000" b="0" i="1" smtClean="0">
                        <a:solidFill>
                          <a:schemeClr val="bg1"/>
                        </a:solidFill>
                        <a:latin typeface="Cambria Math" panose="02040503050406030204" pitchFamily="18" charset="0"/>
                      </a:rPr>
                      <m:t>𝑘</m:t>
                    </m:r>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𝑁</m:t>
                    </m:r>
                  </m:oMath>
                </a14:m>
                <a:r>
                  <a:rPr lang="en-US" sz="2000" dirty="0">
                    <a:solidFill>
                      <a:schemeClr val="bg1"/>
                    </a:solidFill>
                  </a:rPr>
                  <a:t>).</a:t>
                </a:r>
              </a:p>
              <a:p>
                <a:pPr marL="285750" indent="-285750">
                  <a:buClr>
                    <a:schemeClr val="bg1"/>
                  </a:buClr>
                  <a:buFont typeface="Wingdings" panose="05000000000000000000" pitchFamily="2" charset="2"/>
                  <a:buChar char="q"/>
                </a:pPr>
                <a:r>
                  <a:rPr lang="en-US" sz="2000" dirty="0">
                    <a:solidFill>
                      <a:schemeClr val="bg1"/>
                    </a:solidFill>
                  </a:rPr>
                  <a:t>At the initial stage in each of these communities we have some positive population. </a:t>
                </a:r>
              </a:p>
              <a:p>
                <a:pPr marL="285750" indent="-285750">
                  <a:buClr>
                    <a:schemeClr val="bg1"/>
                  </a:buClr>
                  <a:buFont typeface="Wingdings" panose="05000000000000000000" pitchFamily="2" charset="2"/>
                  <a:buChar char="q"/>
                </a:pPr>
                <a:r>
                  <a:rPr lang="en-US" sz="2000" dirty="0">
                    <a:solidFill>
                      <a:schemeClr val="bg1"/>
                    </a:solidFill>
                  </a:rPr>
                  <a:t>At each discrete time point </a:t>
                </a:r>
                <a14:m>
                  <m:oMath xmlns:m="http://schemas.openxmlformats.org/officeDocument/2006/math">
                    <m:r>
                      <a:rPr lang="en-US" sz="2000" b="0" i="1" smtClean="0">
                        <a:solidFill>
                          <a:schemeClr val="bg1"/>
                        </a:solidFill>
                        <a:latin typeface="Cambria Math" panose="02040503050406030204" pitchFamily="18" charset="0"/>
                      </a:rPr>
                      <m:t>𝑡</m:t>
                    </m:r>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𝑁</m:t>
                    </m:r>
                  </m:oMath>
                </a14:m>
                <a:r>
                  <a:rPr lang="en-US" sz="2000" dirty="0">
                    <a:solidFill>
                      <a:schemeClr val="bg1"/>
                    </a:solidFill>
                  </a:rPr>
                  <a:t>, one person based on his type and adoption strategy joins any one of the communities. </a:t>
                </a:r>
                <a14:m>
                  <m:oMath xmlns:m="http://schemas.openxmlformats.org/officeDocument/2006/math">
                    <m:sSup>
                      <m:sSupPr>
                        <m:ctrlPr>
                          <a:rPr lang="en-US" sz="2000" b="0" i="1" smtClean="0">
                            <a:solidFill>
                              <a:schemeClr val="bg1"/>
                            </a:solidFill>
                            <a:latin typeface="Cambria Math" panose="02040503050406030204" pitchFamily="18" charset="0"/>
                          </a:rPr>
                        </m:ctrlPr>
                      </m:sSupPr>
                      <m:e>
                        <m:r>
                          <a:rPr lang="en-US" sz="2000" b="0" i="1" smtClean="0">
                            <a:solidFill>
                              <a:schemeClr val="bg1"/>
                            </a:solidFill>
                            <a:latin typeface="Cambria Math" panose="02040503050406030204" pitchFamily="18" charset="0"/>
                          </a:rPr>
                          <m:t>𝜃</m:t>
                        </m:r>
                      </m:e>
                      <m:sup>
                        <m:r>
                          <a:rPr lang="en-US" sz="2000" b="0" i="1" smtClean="0">
                            <a:solidFill>
                              <a:schemeClr val="bg1"/>
                            </a:solidFill>
                            <a:latin typeface="Cambria Math" panose="02040503050406030204" pitchFamily="18" charset="0"/>
                          </a:rPr>
                          <m:t>𝑡</m:t>
                        </m:r>
                      </m:sup>
                    </m:sSup>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𝜆</m:t>
                        </m:r>
                      </m:e>
                      <m:sub>
                        <m:r>
                          <a:rPr lang="en-US" sz="2000" b="0" i="1" smtClean="0">
                            <a:solidFill>
                              <a:schemeClr val="bg1"/>
                            </a:solidFill>
                            <a:latin typeface="Cambria Math" panose="02040503050406030204" pitchFamily="18" charset="0"/>
                          </a:rPr>
                          <m:t>𝑡</m:t>
                        </m:r>
                      </m:sub>
                    </m:sSub>
                  </m:oMath>
                </a14:m>
                <a:r>
                  <a:rPr lang="en-US" sz="2000" dirty="0">
                    <a:solidFill>
                      <a:schemeClr val="bg1"/>
                    </a:solidFill>
                  </a:rPr>
                  <a:t> denotes type of the person coming at time </a:t>
                </a:r>
                <a14:m>
                  <m:oMath xmlns:m="http://schemas.openxmlformats.org/officeDocument/2006/math">
                    <m:r>
                      <m:rPr>
                        <m:sty m:val="p"/>
                      </m:rPr>
                      <a:rPr lang="en-US" sz="2000" b="0" i="1" smtClean="0">
                        <a:solidFill>
                          <a:schemeClr val="bg1"/>
                        </a:solidFill>
                        <a:latin typeface="Cambria Math" panose="02040503050406030204" pitchFamily="18" charset="0"/>
                      </a:rPr>
                      <m:t>t</m:t>
                    </m:r>
                  </m:oMath>
                </a14:m>
                <a:r>
                  <a:rPr lang="en-US" sz="2000" dirty="0">
                    <a:solidFill>
                      <a:schemeClr val="bg1"/>
                    </a:solidFill>
                  </a:rPr>
                  <a:t>.</a:t>
                </a:r>
              </a:p>
              <a:p>
                <a:pPr marL="285750" indent="-285750">
                  <a:buClr>
                    <a:schemeClr val="bg1"/>
                  </a:buClr>
                  <a:buFont typeface="Wingdings" panose="05000000000000000000" pitchFamily="2" charset="2"/>
                  <a:buChar char="q"/>
                </a:pPr>
                <a:r>
                  <a:rPr lang="en-US" sz="2000" dirty="0">
                    <a:solidFill>
                      <a:schemeClr val="bg1"/>
                    </a:solidFill>
                  </a:rPr>
                  <a:t>Initially the total population taking sum over all communities was </a:t>
                </a:r>
                <a14:m>
                  <m:oMath xmlns:m="http://schemas.openxmlformats.org/officeDocument/2006/math">
                    <m:r>
                      <a:rPr lang="en-US" sz="2000" b="0" i="1" smtClean="0">
                        <a:solidFill>
                          <a:schemeClr val="bg1"/>
                        </a:solidFill>
                        <a:latin typeface="Cambria Math" panose="02040503050406030204" pitchFamily="18" charset="0"/>
                      </a:rPr>
                      <m:t>𝑚</m:t>
                    </m:r>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𝑁</m:t>
                    </m:r>
                  </m:oMath>
                </a14:m>
                <a:r>
                  <a:rPr lang="en-US" sz="2000" dirty="0">
                    <a:solidFill>
                      <a:schemeClr val="bg1"/>
                    </a:solidFill>
                  </a:rPr>
                  <a:t> which was finite. </a:t>
                </a:r>
              </a:p>
              <a:p>
                <a:pPr marL="285750" indent="-285750">
                  <a:buClr>
                    <a:schemeClr val="bg1"/>
                  </a:buClr>
                  <a:buFont typeface="Wingdings" panose="05000000000000000000" pitchFamily="2" charset="2"/>
                  <a:buChar char="q"/>
                </a:pPr>
                <a:r>
                  <a:rPr lang="en-US" sz="2000" dirty="0">
                    <a:solidFill>
                      <a:schemeClr val="bg1"/>
                    </a:solidFill>
                  </a:rPr>
                  <a:t>Suppose </a:t>
                </a:r>
                <a14:m>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𝑡</m:t>
                        </m:r>
                      </m:sub>
                    </m:sSub>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𝜔</m:t>
                        </m:r>
                      </m:e>
                    </m:d>
                  </m:oMath>
                </a14:m>
                <a:r>
                  <a:rPr lang="en-US" sz="2000" dirty="0">
                    <a:solidFill>
                      <a:schemeClr val="bg1"/>
                    </a:solidFill>
                  </a:rPr>
                  <a:t>=</a:t>
                </a:r>
                <a14:m>
                  <m:oMath xmlns:m="http://schemas.openxmlformats.org/officeDocument/2006/math">
                    <m:d>
                      <m:dPr>
                        <m:ctrlPr>
                          <a:rPr lang="en-US" sz="2000" b="0" i="1" dirty="0" smtClean="0">
                            <a:solidFill>
                              <a:schemeClr val="bg1"/>
                            </a:solidFill>
                            <a:latin typeface="Cambria Math" panose="02040503050406030204" pitchFamily="18" charset="0"/>
                          </a:rPr>
                        </m:ctrlPr>
                      </m:dPr>
                      <m:e>
                        <m:sSubSup>
                          <m:sSubSupPr>
                            <m:ctrlPr>
                              <a:rPr lang="en-US" sz="2000" b="0" i="1" dirty="0" smtClean="0">
                                <a:solidFill>
                                  <a:schemeClr val="bg1"/>
                                </a:solidFill>
                                <a:latin typeface="Cambria Math" panose="02040503050406030204" pitchFamily="18" charset="0"/>
                              </a:rPr>
                            </m:ctrlPr>
                          </m:sSubSupPr>
                          <m:e>
                            <m:r>
                              <a:rPr lang="en-US" sz="2000" b="0" i="1" dirty="0" smtClean="0">
                                <a:solidFill>
                                  <a:schemeClr val="bg1"/>
                                </a:solidFill>
                                <a:latin typeface="Cambria Math" panose="02040503050406030204" pitchFamily="18" charset="0"/>
                              </a:rPr>
                              <m:t>𝑌</m:t>
                            </m:r>
                          </m:e>
                          <m:sub>
                            <m:r>
                              <a:rPr lang="en-US" sz="2000" b="0" i="1" dirty="0" smtClean="0">
                                <a:solidFill>
                                  <a:schemeClr val="bg1"/>
                                </a:solidFill>
                                <a:latin typeface="Cambria Math" panose="02040503050406030204" pitchFamily="18" charset="0"/>
                              </a:rPr>
                              <m:t>𝑡</m:t>
                            </m:r>
                          </m:sub>
                          <m:sup>
                            <m:r>
                              <a:rPr lang="en-US" sz="2000" b="0" i="1" dirty="0" smtClean="0">
                                <a:solidFill>
                                  <a:schemeClr val="bg1"/>
                                </a:solidFill>
                                <a:latin typeface="Cambria Math" panose="02040503050406030204" pitchFamily="18" charset="0"/>
                              </a:rPr>
                              <m:t>1</m:t>
                            </m:r>
                          </m:sup>
                        </m:sSubSup>
                        <m:d>
                          <m:dPr>
                            <m:ctrlPr>
                              <a:rPr lang="en-US" sz="2000" b="0" i="1" dirty="0" smtClean="0">
                                <a:solidFill>
                                  <a:schemeClr val="bg1"/>
                                </a:solidFill>
                                <a:latin typeface="Cambria Math" panose="02040503050406030204" pitchFamily="18" charset="0"/>
                              </a:rPr>
                            </m:ctrlPr>
                          </m:dPr>
                          <m:e>
                            <m:r>
                              <a:rPr lang="en-US" sz="2000" b="0" i="1" dirty="0" smtClean="0">
                                <a:solidFill>
                                  <a:schemeClr val="bg1"/>
                                </a:solidFill>
                                <a:latin typeface="Cambria Math" panose="02040503050406030204" pitchFamily="18" charset="0"/>
                              </a:rPr>
                              <m:t>𝜔</m:t>
                            </m:r>
                          </m:e>
                        </m:d>
                        <m:r>
                          <a:rPr lang="en-US" sz="2000" b="0" i="1" dirty="0" smtClean="0">
                            <a:solidFill>
                              <a:schemeClr val="bg1"/>
                            </a:solidFill>
                            <a:latin typeface="Cambria Math" panose="02040503050406030204" pitchFamily="18" charset="0"/>
                          </a:rPr>
                          <m:t>,</m:t>
                        </m:r>
                        <m:sSubSup>
                          <m:sSubSupPr>
                            <m:ctrlPr>
                              <a:rPr lang="en-US" sz="2000" b="0" i="1" dirty="0" smtClean="0">
                                <a:solidFill>
                                  <a:schemeClr val="bg1"/>
                                </a:solidFill>
                                <a:latin typeface="Cambria Math" panose="02040503050406030204" pitchFamily="18" charset="0"/>
                              </a:rPr>
                            </m:ctrlPr>
                          </m:sSubSupPr>
                          <m:e>
                            <m:r>
                              <a:rPr lang="en-US" sz="2000" b="0" i="1" dirty="0" smtClean="0">
                                <a:solidFill>
                                  <a:schemeClr val="bg1"/>
                                </a:solidFill>
                                <a:latin typeface="Cambria Math" panose="02040503050406030204" pitchFamily="18" charset="0"/>
                              </a:rPr>
                              <m:t>𝑌</m:t>
                            </m:r>
                          </m:e>
                          <m:sub>
                            <m:r>
                              <a:rPr lang="en-US" sz="2000" b="0" i="1" dirty="0" smtClean="0">
                                <a:solidFill>
                                  <a:schemeClr val="bg1"/>
                                </a:solidFill>
                                <a:latin typeface="Cambria Math" panose="02040503050406030204" pitchFamily="18" charset="0"/>
                              </a:rPr>
                              <m:t>𝑡</m:t>
                            </m:r>
                          </m:sub>
                          <m:sup>
                            <m:r>
                              <a:rPr lang="en-US" sz="2000" b="0" i="1" dirty="0" smtClean="0">
                                <a:solidFill>
                                  <a:schemeClr val="bg1"/>
                                </a:solidFill>
                                <a:latin typeface="Cambria Math" panose="02040503050406030204" pitchFamily="18" charset="0"/>
                              </a:rPr>
                              <m:t>2</m:t>
                            </m:r>
                          </m:sup>
                        </m:sSubSup>
                        <m:d>
                          <m:dPr>
                            <m:ctrlPr>
                              <a:rPr lang="en-US" sz="2000" b="0" i="1" dirty="0" smtClean="0">
                                <a:solidFill>
                                  <a:schemeClr val="bg1"/>
                                </a:solidFill>
                                <a:latin typeface="Cambria Math" panose="02040503050406030204" pitchFamily="18" charset="0"/>
                              </a:rPr>
                            </m:ctrlPr>
                          </m:dPr>
                          <m:e>
                            <m:r>
                              <a:rPr lang="en-US" sz="2000" b="0" i="1" dirty="0" smtClean="0">
                                <a:solidFill>
                                  <a:schemeClr val="bg1"/>
                                </a:solidFill>
                                <a:latin typeface="Cambria Math" panose="02040503050406030204" pitchFamily="18" charset="0"/>
                              </a:rPr>
                              <m:t>𝜔</m:t>
                            </m:r>
                          </m:e>
                        </m:d>
                        <m:r>
                          <a:rPr lang="en-US" sz="2000" b="0" i="1" dirty="0" smtClean="0">
                            <a:solidFill>
                              <a:schemeClr val="bg1"/>
                            </a:solidFill>
                            <a:latin typeface="Cambria Math" panose="02040503050406030204" pitchFamily="18" charset="0"/>
                          </a:rPr>
                          <m:t>,…,</m:t>
                        </m:r>
                        <m:sSubSup>
                          <m:sSubSupPr>
                            <m:ctrlPr>
                              <a:rPr lang="en-US" sz="2000" b="0" i="1" dirty="0" smtClean="0">
                                <a:solidFill>
                                  <a:schemeClr val="bg1"/>
                                </a:solidFill>
                                <a:latin typeface="Cambria Math" panose="02040503050406030204" pitchFamily="18" charset="0"/>
                              </a:rPr>
                            </m:ctrlPr>
                          </m:sSubSupPr>
                          <m:e>
                            <m:r>
                              <a:rPr lang="en-US" sz="2000" b="0" i="1" dirty="0" smtClean="0">
                                <a:solidFill>
                                  <a:schemeClr val="bg1"/>
                                </a:solidFill>
                                <a:latin typeface="Cambria Math" panose="02040503050406030204" pitchFamily="18" charset="0"/>
                              </a:rPr>
                              <m:t>𝑌</m:t>
                            </m:r>
                          </m:e>
                          <m:sub>
                            <m:r>
                              <a:rPr lang="en-US" sz="2000" b="0" i="1" dirty="0" smtClean="0">
                                <a:solidFill>
                                  <a:schemeClr val="bg1"/>
                                </a:solidFill>
                                <a:latin typeface="Cambria Math" panose="02040503050406030204" pitchFamily="18" charset="0"/>
                              </a:rPr>
                              <m:t>𝑡</m:t>
                            </m:r>
                          </m:sub>
                          <m:sup>
                            <m:r>
                              <a:rPr lang="en-US" sz="2000" b="0" i="1" dirty="0" smtClean="0">
                                <a:solidFill>
                                  <a:schemeClr val="bg1"/>
                                </a:solidFill>
                                <a:latin typeface="Cambria Math" panose="02040503050406030204" pitchFamily="18" charset="0"/>
                              </a:rPr>
                              <m:t>𝑙</m:t>
                            </m:r>
                          </m:sup>
                        </m:sSubSup>
                        <m:d>
                          <m:dPr>
                            <m:ctrlPr>
                              <a:rPr lang="en-US" sz="2000" b="0" i="1" dirty="0" smtClean="0">
                                <a:solidFill>
                                  <a:schemeClr val="bg1"/>
                                </a:solidFill>
                                <a:latin typeface="Cambria Math" panose="02040503050406030204" pitchFamily="18" charset="0"/>
                              </a:rPr>
                            </m:ctrlPr>
                          </m:dPr>
                          <m:e>
                            <m:r>
                              <a:rPr lang="en-US" sz="2000" b="0" i="1" dirty="0" smtClean="0">
                                <a:solidFill>
                                  <a:schemeClr val="bg1"/>
                                </a:solidFill>
                                <a:latin typeface="Cambria Math" panose="02040503050406030204" pitchFamily="18" charset="0"/>
                              </a:rPr>
                              <m:t>𝜔</m:t>
                            </m:r>
                          </m:e>
                        </m:d>
                      </m:e>
                    </m:d>
                  </m:oMath>
                </a14:m>
                <a:r>
                  <a:rPr lang="en-US" sz="2000" dirty="0">
                    <a:solidFill>
                      <a:schemeClr val="bg1"/>
                    </a:solidFill>
                  </a:rPr>
                  <a:t> where </a:t>
                </a:r>
                <a14:m>
                  <m:oMath xmlns:m="http://schemas.openxmlformats.org/officeDocument/2006/math">
                    <m:sSubSup>
                      <m:sSubSupPr>
                        <m:ctrlPr>
                          <a:rPr lang="en-US" sz="2000" b="0" i="1" smtClean="0">
                            <a:solidFill>
                              <a:schemeClr val="bg1"/>
                            </a:solidFill>
                            <a:latin typeface="Cambria Math" panose="02040503050406030204" pitchFamily="18" charset="0"/>
                          </a:rPr>
                        </m:ctrlPr>
                      </m:sSubSup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𝑡</m:t>
                        </m:r>
                      </m:sub>
                      <m:sup>
                        <m:r>
                          <a:rPr lang="en-US" sz="2000" b="0" i="1" smtClean="0">
                            <a:solidFill>
                              <a:schemeClr val="bg1"/>
                            </a:solidFill>
                            <a:latin typeface="Cambria Math" panose="02040503050406030204" pitchFamily="18" charset="0"/>
                          </a:rPr>
                          <m:t>𝑗</m:t>
                        </m:r>
                      </m:sup>
                    </m:sSubSup>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𝜔</m:t>
                        </m:r>
                      </m:e>
                    </m:d>
                  </m:oMath>
                </a14:m>
                <a:r>
                  <a:rPr lang="en-US" sz="2000" dirty="0">
                    <a:solidFill>
                      <a:schemeClr val="bg1"/>
                    </a:solidFill>
                  </a:rPr>
                  <a:t> denotes the number of person in the </a:t>
                </a:r>
                <a14:m>
                  <m:oMath xmlns:m="http://schemas.openxmlformats.org/officeDocument/2006/math">
                    <m:r>
                      <m:rPr>
                        <m:sty m:val="p"/>
                      </m:rPr>
                      <a:rPr lang="en-US" sz="2000" b="0" i="1" smtClean="0">
                        <a:solidFill>
                          <a:schemeClr val="bg1"/>
                        </a:solidFill>
                        <a:latin typeface="Cambria Math" panose="02040503050406030204" pitchFamily="18" charset="0"/>
                      </a:rPr>
                      <m:t>j</m:t>
                    </m:r>
                  </m:oMath>
                </a14:m>
                <a:r>
                  <a:rPr lang="en-US" sz="2000" dirty="0">
                    <a:solidFill>
                      <a:schemeClr val="bg1"/>
                    </a:solidFill>
                  </a:rPr>
                  <a:t>th community at time </a:t>
                </a:r>
                <a14:m>
                  <m:oMath xmlns:m="http://schemas.openxmlformats.org/officeDocument/2006/math">
                    <m:r>
                      <m:rPr>
                        <m:sty m:val="p"/>
                      </m:rPr>
                      <a:rPr lang="en-US" sz="2000" b="0" i="1" smtClean="0">
                        <a:solidFill>
                          <a:schemeClr val="bg1"/>
                        </a:solidFill>
                        <a:latin typeface="Cambria Math" panose="02040503050406030204" pitchFamily="18" charset="0"/>
                      </a:rPr>
                      <m:t>t</m:t>
                    </m:r>
                  </m:oMath>
                </a14:m>
                <a:r>
                  <a:rPr lang="en-US" sz="2000" dirty="0">
                    <a:solidFill>
                      <a:schemeClr val="bg1"/>
                    </a:solidFill>
                  </a:rPr>
                  <a:t>.</a:t>
                </a:r>
              </a:p>
              <a:p>
                <a:pPr marL="285750" indent="-285750">
                  <a:buClr>
                    <a:schemeClr val="bg1"/>
                  </a:buClr>
                  <a:buFont typeface="Wingdings" panose="05000000000000000000" pitchFamily="2" charset="2"/>
                  <a:buChar char="q"/>
                </a:pPr>
                <a:r>
                  <a:rPr lang="en-US" sz="2000" dirty="0">
                    <a:solidFill>
                      <a:schemeClr val="bg1"/>
                    </a:solidFill>
                  </a:rPr>
                  <a:t> Define the fraction of population as </a:t>
                </a:r>
                <a14:m>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𝑋</m:t>
                        </m:r>
                      </m:e>
                      <m:sub>
                        <m:r>
                          <a:rPr lang="en-US" sz="2000" b="0" i="1" smtClean="0">
                            <a:solidFill>
                              <a:schemeClr val="bg1"/>
                            </a:solidFill>
                            <a:latin typeface="Cambria Math" panose="02040503050406030204" pitchFamily="18" charset="0"/>
                          </a:rPr>
                          <m:t>𝑡</m:t>
                        </m:r>
                      </m:sub>
                    </m:sSub>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𝜔</m:t>
                        </m:r>
                      </m:e>
                    </m:d>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𝑡</m:t>
                            </m:r>
                          </m:sub>
                        </m:sSub>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𝜔</m:t>
                            </m:r>
                          </m:e>
                        </m:d>
                      </m:num>
                      <m:den>
                        <m:r>
                          <a:rPr lang="en-US" sz="2000" b="0" i="1" smtClean="0">
                            <a:solidFill>
                              <a:schemeClr val="bg1"/>
                            </a:solidFill>
                            <a:latin typeface="Cambria Math" panose="02040503050406030204" pitchFamily="18" charset="0"/>
                          </a:rPr>
                          <m:t>𝑚</m:t>
                        </m:r>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𝑡</m:t>
                        </m:r>
                      </m:den>
                    </m:f>
                  </m:oMath>
                </a14:m>
                <a:r>
                  <a:rPr lang="en-US" sz="2000" dirty="0">
                    <a:solidFill>
                      <a:schemeClr val="bg1"/>
                    </a:solidFill>
                  </a:rPr>
                  <a:t> .</a:t>
                </a:r>
              </a:p>
            </p:txBody>
          </p:sp>
        </mc:Choice>
        <mc:Fallback xmlns="">
          <p:sp>
            <p:nvSpPr>
              <p:cNvPr id="5" name="Text Placeholder 4">
                <a:extLst>
                  <a:ext uri="{FF2B5EF4-FFF2-40B4-BE49-F238E27FC236}">
                    <a16:creationId xmlns:a16="http://schemas.microsoft.com/office/drawing/2014/main" id="{DCDDBE65-9AB1-4989-AF86-726591A6A128}"/>
                  </a:ext>
                </a:extLst>
              </p:cNvPr>
              <p:cNvSpPr>
                <a:spLocks noGrp="1" noRot="1" noChangeAspect="1" noMove="1" noResize="1" noEditPoints="1" noAdjustHandles="1" noChangeArrowheads="1" noChangeShapeType="1" noTextEdit="1"/>
              </p:cNvSpPr>
              <p:nvPr>
                <p:ph type="body" idx="1"/>
              </p:nvPr>
            </p:nvSpPr>
            <p:spPr>
              <a:xfrm>
                <a:off x="831849" y="1632857"/>
                <a:ext cx="10168943" cy="4422710"/>
              </a:xfrm>
              <a:blipFill>
                <a:blip r:embed="rId2"/>
                <a:stretch>
                  <a:fillRect l="-539" t="-1379" r="-839"/>
                </a:stretch>
              </a:blipFill>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10EDE-C827-6E31-D753-23F2B82CAFDD}"/>
              </a:ext>
            </a:extLst>
          </p:cNvPr>
          <p:cNvSpPr>
            <a:spLocks noGrp="1"/>
          </p:cNvSpPr>
          <p:nvPr>
            <p:ph type="ctrTitle"/>
          </p:nvPr>
        </p:nvSpPr>
        <p:spPr>
          <a:xfrm>
            <a:off x="2761487" y="1520890"/>
            <a:ext cx="8463239" cy="793102"/>
          </a:xfrm>
        </p:spPr>
        <p:txBody>
          <a:bodyPr/>
          <a:lstStyle/>
          <a:p>
            <a:r>
              <a:rPr lang="en-US" sz="4400" dirty="0">
                <a:solidFill>
                  <a:schemeClr val="bg1"/>
                </a:solidFill>
                <a:latin typeface="Bahnschrift Light SemiCondensed" panose="020B0502040204020203" pitchFamily="34" charset="0"/>
              </a:rPr>
              <a:t>Adaption strategies</a:t>
            </a:r>
            <a:endParaRPr lang="en-IN" sz="4400" dirty="0">
              <a:solidFill>
                <a:schemeClr val="bg1"/>
              </a:solidFill>
              <a:latin typeface="Bahnschrift Light SemiCondensed" panose="020B0502040204020203" pitchFamily="34" charset="0"/>
            </a:endParaRP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13A58075-36C4-B3B6-5364-ED55FF346DB5}"/>
                  </a:ext>
                </a:extLst>
              </p:cNvPr>
              <p:cNvSpPr>
                <a:spLocks noGrp="1"/>
              </p:cNvSpPr>
              <p:nvPr>
                <p:ph type="subTitle" idx="1"/>
              </p:nvPr>
            </p:nvSpPr>
            <p:spPr>
              <a:xfrm>
                <a:off x="2761487" y="2500604"/>
                <a:ext cx="8780479" cy="2089684"/>
              </a:xfrm>
            </p:spPr>
            <p:txBody>
              <a:bodyPr>
                <a:noAutofit/>
              </a:bodyPr>
              <a:lstStyle/>
              <a:p>
                <a:pPr marL="342900" indent="-342900">
                  <a:buClr>
                    <a:schemeClr val="bg1"/>
                  </a:buClr>
                  <a:buFont typeface="Wingdings" panose="05000000000000000000" pitchFamily="2" charset="2"/>
                  <a:buChar char="q"/>
                </a:pPr>
                <a:r>
                  <a:rPr lang="en-US" sz="2000" dirty="0"/>
                  <a:t>There may be various types of adaption strategies. Two of them are discussed below. </a:t>
                </a:r>
              </a:p>
              <a:p>
                <a:pPr marL="342900" indent="-342900">
                  <a:buClr>
                    <a:schemeClr val="bg1"/>
                  </a:buClr>
                  <a:buFont typeface="Wingdings" panose="05000000000000000000" pitchFamily="2" charset="2"/>
                  <a:buChar char="q"/>
                </a:pPr>
                <a:r>
                  <a:rPr lang="en-US" sz="2000" dirty="0"/>
                  <a:t>In probabilistic adaption strategy if type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𝜃</m:t>
                        </m:r>
                      </m:e>
                      <m:sub>
                        <m:r>
                          <a:rPr lang="en-US" sz="2000" b="0" i="1" smtClean="0">
                            <a:latin typeface="Cambria Math" panose="02040503050406030204" pitchFamily="18" charset="0"/>
                          </a:rPr>
                          <m:t>𝑖</m:t>
                        </m:r>
                      </m:sub>
                    </m:sSub>
                  </m:oMath>
                </a14:m>
                <a:r>
                  <a:rPr lang="en-IN" sz="2000" dirty="0"/>
                  <a:t> is selected then community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𝑐</m:t>
                        </m:r>
                      </m:e>
                      <m:sub>
                        <m:r>
                          <a:rPr lang="en-US" sz="2000" b="0" i="1" smtClean="0">
                            <a:latin typeface="Cambria Math" panose="02040503050406030204" pitchFamily="18" charset="0"/>
                          </a:rPr>
                          <m:t>𝑗</m:t>
                        </m:r>
                      </m:sub>
                    </m:sSub>
                  </m:oMath>
                </a14:m>
                <a:r>
                  <a:rPr lang="en-IN" sz="2000" dirty="0"/>
                  <a:t> will be selected with probability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𝜌</m:t>
                        </m:r>
                      </m:e>
                      <m:sub>
                        <m:r>
                          <a:rPr lang="en-US" sz="2000" b="0" i="1" smtClean="0">
                            <a:latin typeface="Cambria Math" panose="02040503050406030204" pitchFamily="18" charset="0"/>
                          </a:rPr>
                          <m:t>𝑖𝑗</m:t>
                        </m:r>
                      </m:sub>
                    </m:sSub>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𝑡</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𝜔</m:t>
                            </m:r>
                          </m:e>
                        </m:d>
                      </m:e>
                    </m:d>
                  </m:oMath>
                </a14:m>
                <a:r>
                  <a:rPr lang="en-IN" sz="2000" dirty="0"/>
                  <a:t>. </a:t>
                </a:r>
              </a:p>
              <a:p>
                <a:pPr marL="342900" indent="-342900">
                  <a:buClr>
                    <a:schemeClr val="bg1"/>
                  </a:buClr>
                  <a:buFont typeface="Wingdings" panose="05000000000000000000" pitchFamily="2" charset="2"/>
                  <a:buChar char="q"/>
                </a:pPr>
                <a:r>
                  <a:rPr lang="en-IN" sz="2000" dirty="0"/>
                  <a:t>In adaption strategy using utility after selection of type that particular community is selected for which utility is maximized</a:t>
                </a:r>
              </a:p>
            </p:txBody>
          </p:sp>
        </mc:Choice>
        <mc:Fallback xmlns="">
          <p:sp>
            <p:nvSpPr>
              <p:cNvPr id="3" name="Subtitle 2">
                <a:extLst>
                  <a:ext uri="{FF2B5EF4-FFF2-40B4-BE49-F238E27FC236}">
                    <a16:creationId xmlns:a16="http://schemas.microsoft.com/office/drawing/2014/main" id="{13A58075-36C4-B3B6-5364-ED55FF346DB5}"/>
                  </a:ext>
                </a:extLst>
              </p:cNvPr>
              <p:cNvSpPr>
                <a:spLocks noGrp="1" noRot="1" noChangeAspect="1" noMove="1" noResize="1" noEditPoints="1" noAdjustHandles="1" noChangeArrowheads="1" noChangeShapeType="1" noTextEdit="1"/>
              </p:cNvSpPr>
              <p:nvPr>
                <p:ph type="subTitle" idx="1"/>
              </p:nvPr>
            </p:nvSpPr>
            <p:spPr>
              <a:xfrm>
                <a:off x="2761487" y="2500604"/>
                <a:ext cx="8780479" cy="2089684"/>
              </a:xfrm>
              <a:blipFill>
                <a:blip r:embed="rId2"/>
                <a:stretch>
                  <a:fillRect l="-625" t="-2624" r="-1806" b="-30321"/>
                </a:stretch>
              </a:blipFill>
            </p:spPr>
            <p:txBody>
              <a:bodyPr/>
              <a:lstStyle/>
              <a:p>
                <a:r>
                  <a:rPr lang="en-IN">
                    <a:noFill/>
                  </a:rPr>
                  <a:t> </a:t>
                </a:r>
              </a:p>
            </p:txBody>
          </p:sp>
        </mc:Fallback>
      </mc:AlternateContent>
    </p:spTree>
    <p:extLst>
      <p:ext uri="{BB962C8B-B14F-4D97-AF65-F5344CB8AC3E}">
        <p14:creationId xmlns:p14="http://schemas.microsoft.com/office/powerpoint/2010/main" val="1413174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662473" y="1609725"/>
            <a:ext cx="10996127" cy="781050"/>
          </a:xfrm>
        </p:spPr>
        <p:txBody>
          <a:bodyPr/>
          <a:lstStyle/>
          <a:p>
            <a:r>
              <a:rPr lang="en-US" sz="4400" dirty="0">
                <a:latin typeface="Bahnschrift Light SemiCondensed" panose="020B0502040204020203" pitchFamily="34" charset="0"/>
              </a:rPr>
              <a:t>Focus of Study</a:t>
            </a:r>
          </a:p>
        </p:txBody>
      </p:sp>
      <mc:AlternateContent xmlns:mc="http://schemas.openxmlformats.org/markup-compatibility/2006" xmlns:a14="http://schemas.microsoft.com/office/drawing/2010/main">
        <mc:Choice Requires="a14">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444499" y="2696547"/>
                <a:ext cx="9832975" cy="3022081"/>
              </a:xfrm>
            </p:spPr>
            <p:txBody>
              <a:bodyPr/>
              <a:lstStyle/>
              <a:p>
                <a:pPr>
                  <a:buClr>
                    <a:schemeClr val="bg1"/>
                  </a:buClr>
                  <a:buFont typeface="Wingdings" panose="05000000000000000000" pitchFamily="2" charset="2"/>
                  <a:buChar char="q"/>
                </a:pPr>
                <a:r>
                  <a:rPr lang="en-US" sz="2000" dirty="0"/>
                  <a:t>We want to know as </a:t>
                </a:r>
                <a14:m>
                  <m:oMath xmlns:m="http://schemas.openxmlformats.org/officeDocument/2006/math">
                    <m:r>
                      <a:rPr lang="en-US" sz="2000" b="0" i="1" smtClean="0">
                        <a:latin typeface="Cambria Math" panose="02040503050406030204" pitchFamily="18" charset="0"/>
                      </a:rPr>
                      <m:t>𝑡</m:t>
                    </m:r>
                    <m:r>
                      <a:rPr lang="en-US" sz="2000" b="0" i="1" smtClean="0">
                        <a:latin typeface="Cambria Math" panose="02040503050406030204" pitchFamily="18" charset="0"/>
                      </a:rPr>
                      <m:t> →∞</m:t>
                    </m:r>
                  </m:oMath>
                </a14:m>
                <a:r>
                  <a:rPr lang="en-US" sz="2000" dirty="0"/>
                  <a:t>, how does this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𝑡</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𝜔</m:t>
                        </m:r>
                      </m:e>
                    </m:d>
                  </m:oMath>
                </a14:m>
                <a:r>
                  <a:rPr lang="en-US" sz="2000" dirty="0"/>
                  <a:t> changes.</a:t>
                </a:r>
              </a:p>
              <a:p>
                <a:pPr>
                  <a:buClr>
                    <a:schemeClr val="bg1"/>
                  </a:buClr>
                  <a:buFont typeface="Wingdings" panose="05000000000000000000" pitchFamily="2" charset="2"/>
                  <a:buChar char="q"/>
                </a:pPr>
                <a:r>
                  <a:rPr lang="en-US" sz="2000" dirty="0"/>
                  <a:t>Whether it converges or not.</a:t>
                </a:r>
              </a:p>
              <a:p>
                <a:pPr>
                  <a:buClr>
                    <a:schemeClr val="bg1"/>
                  </a:buClr>
                  <a:buFont typeface="Wingdings" panose="05000000000000000000" pitchFamily="2" charset="2"/>
                  <a:buChar char="q"/>
                </a:pPr>
                <a:r>
                  <a:rPr lang="en-US" sz="2000" dirty="0"/>
                  <a:t>For the limit of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𝑡</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𝜔</m:t>
                        </m:r>
                      </m:e>
                    </m:d>
                  </m:oMath>
                </a14:m>
                <a:r>
                  <a:rPr lang="en-US" sz="2000" dirty="0"/>
                  <a:t> , whether there exist any deterministic limit or it converges to a random variable when we start with some fixed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0</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𝜔</m:t>
                        </m:r>
                      </m:e>
                    </m:d>
                  </m:oMath>
                </a14:m>
                <a:r>
                  <a:rPr lang="en-US" sz="2000" dirty="0"/>
                  <a:t> and adaption rule.</a:t>
                </a:r>
              </a:p>
            </p:txBody>
          </p:sp>
        </mc:Choice>
        <mc:Fallback xmlns="">
          <p:sp>
            <p:nvSpPr>
              <p:cNvPr id="10" name="Text Placeholder 9">
                <a:extLst>
                  <a:ext uri="{FF2B5EF4-FFF2-40B4-BE49-F238E27FC236}">
                    <a16:creationId xmlns:a16="http://schemas.microsoft.com/office/drawing/2014/main" id="{EF2BC084-E6DB-4DE7-B309-042A85EBA700}"/>
                  </a:ext>
                </a:extLst>
              </p:cNvPr>
              <p:cNvSpPr>
                <a:spLocks noGrp="1" noRot="1" noChangeAspect="1" noMove="1" noResize="1" noEditPoints="1" noAdjustHandles="1" noChangeArrowheads="1" noChangeShapeType="1" noTextEdit="1"/>
              </p:cNvSpPr>
              <p:nvPr>
                <p:ph type="body" sz="quarter" idx="13"/>
              </p:nvPr>
            </p:nvSpPr>
            <p:spPr>
              <a:xfrm>
                <a:off x="444499" y="2696547"/>
                <a:ext cx="9832975" cy="3022081"/>
              </a:xfrm>
              <a:blipFill>
                <a:blip r:embed="rId2"/>
                <a:stretch>
                  <a:fillRect l="-558" t="-806" r="-1054"/>
                </a:stretch>
              </a:blipFill>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701731"/>
          </a:xfrm>
        </p:spPr>
        <p:txBody>
          <a:bodyPr/>
          <a:lstStyle/>
          <a:p>
            <a:r>
              <a:rPr lang="en-US" sz="4400" dirty="0">
                <a:latin typeface="Bahnschrift Light SemiCondensed" panose="020B0502040204020203" pitchFamily="34" charset="0"/>
              </a:rPr>
              <a:t>Assumptions</a:t>
            </a: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6</a:t>
            </a:fld>
            <a:endParaRPr lang="en-US"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1C1F9E3-753E-C73F-523A-A108532F9D33}"/>
                  </a:ext>
                </a:extLst>
              </p:cNvPr>
              <p:cNvSpPr txBox="1"/>
              <p:nvPr/>
            </p:nvSpPr>
            <p:spPr>
              <a:xfrm>
                <a:off x="541176" y="1688841"/>
                <a:ext cx="9097346" cy="1746953"/>
              </a:xfrm>
              <a:prstGeom prst="rect">
                <a:avLst/>
              </a:prstGeom>
              <a:noFill/>
            </p:spPr>
            <p:txBody>
              <a:bodyPr wrap="square" rtlCol="0">
                <a:spAutoFit/>
              </a:bodyPr>
              <a:lstStyle/>
              <a:p>
                <a:pPr marL="342900" indent="-342900">
                  <a:buFont typeface="Wingdings" panose="05000000000000000000" pitchFamily="2" charset="2"/>
                  <a:buChar char="q"/>
                </a:pPr>
                <a:r>
                  <a:rPr lang="en-US" sz="2000" dirty="0">
                    <a:solidFill>
                      <a:schemeClr val="bg1"/>
                    </a:solidFill>
                  </a:rPr>
                  <a:t>Suppose </a:t>
                </a:r>
                <a14:m>
                  <m:oMath xmlns:m="http://schemas.openxmlformats.org/officeDocument/2006/math">
                    <m:r>
                      <m:rPr>
                        <m:sty m:val="p"/>
                      </m:rPr>
                      <a:rPr lang="en-US" sz="2000" b="0" i="1" smtClean="0">
                        <a:solidFill>
                          <a:schemeClr val="bg1"/>
                        </a:solidFill>
                        <a:latin typeface="Cambria Math" panose="02040503050406030204" pitchFamily="18" charset="0"/>
                      </a:rPr>
                      <m:t>l</m:t>
                    </m:r>
                    <m:r>
                      <a:rPr lang="en-US" sz="2000" b="0" i="1" smtClean="0">
                        <a:solidFill>
                          <a:schemeClr val="bg1"/>
                        </a:solidFill>
                        <a:latin typeface="Cambria Math" panose="02040503050406030204" pitchFamily="18" charset="0"/>
                      </a:rPr>
                      <m:t>=</m:t>
                    </m:r>
                    <m:r>
                      <m:rPr>
                        <m:sty m:val="p"/>
                      </m:rPr>
                      <a:rPr lang="en-US" sz="2000" b="0" i="1" smtClean="0">
                        <a:solidFill>
                          <a:schemeClr val="bg1"/>
                        </a:solidFill>
                        <a:latin typeface="Cambria Math" panose="02040503050406030204" pitchFamily="18" charset="0"/>
                      </a:rPr>
                      <m:t>k</m:t>
                    </m:r>
                  </m:oMath>
                </a14:m>
                <a:r>
                  <a:rPr lang="en-IN" sz="2000" dirty="0">
                    <a:solidFill>
                      <a:schemeClr val="bg1"/>
                    </a:solidFill>
                  </a:rPr>
                  <a:t>, that is the number of communities is equal to number of types. Now we consider the utility adaption strategy </a:t>
                </a:r>
                <a14:m>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𝑢</m:t>
                        </m:r>
                      </m:e>
                      <m:sub>
                        <m:r>
                          <a:rPr lang="en-US" sz="2000" b="0" i="1" smtClean="0">
                            <a:solidFill>
                              <a:schemeClr val="bg1"/>
                            </a:solidFill>
                            <a:latin typeface="Cambria Math" panose="02040503050406030204" pitchFamily="18" charset="0"/>
                          </a:rPr>
                          <m:t>𝑖𝑗</m:t>
                        </m:r>
                      </m:sub>
                    </m:sSub>
                    <m:d>
                      <m:dPr>
                        <m:ctrlPr>
                          <a:rPr lang="en-US" sz="2000" b="0" i="1" smtClean="0">
                            <a:solidFill>
                              <a:schemeClr val="bg1"/>
                            </a:solidFill>
                            <a:latin typeface="Cambria Math" panose="02040503050406030204" pitchFamily="18" charset="0"/>
                          </a:rPr>
                        </m:ctrlPr>
                      </m:dPr>
                      <m:e>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𝑋</m:t>
                            </m:r>
                          </m:e>
                          <m:sub>
                            <m:r>
                              <a:rPr lang="en-US" sz="2000" b="0" i="1" smtClean="0">
                                <a:solidFill>
                                  <a:schemeClr val="bg1"/>
                                </a:solidFill>
                                <a:latin typeface="Cambria Math" panose="02040503050406030204" pitchFamily="18" charset="0"/>
                              </a:rPr>
                              <m:t>𝑡</m:t>
                            </m:r>
                          </m:sub>
                        </m:sSub>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𝜔</m:t>
                            </m:r>
                          </m:e>
                        </m:d>
                      </m:e>
                    </m:d>
                  </m:oMath>
                </a14:m>
                <a:r>
                  <a:rPr lang="en-IN" sz="2000" dirty="0">
                    <a:solidFill>
                      <a:schemeClr val="bg1"/>
                    </a:solidFill>
                  </a:rPr>
                  <a:t> = </a:t>
                </a:r>
                <a14:m>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𝑢</m:t>
                        </m:r>
                      </m:e>
                      <m:sub>
                        <m:r>
                          <a:rPr lang="en-US" sz="2000" b="0" i="1" smtClean="0">
                            <a:solidFill>
                              <a:schemeClr val="bg1"/>
                            </a:solidFill>
                            <a:latin typeface="Cambria Math" panose="02040503050406030204" pitchFamily="18" charset="0"/>
                          </a:rPr>
                          <m:t>𝑖𝑗</m:t>
                        </m:r>
                      </m:sub>
                    </m:sSub>
                    <m:r>
                      <a:rPr lang="en-US" sz="2000" b="0" i="1" smtClean="0">
                        <a:solidFill>
                          <a:schemeClr val="bg1"/>
                        </a:solidFill>
                        <a:latin typeface="Cambria Math" panose="02040503050406030204" pitchFamily="18" charset="0"/>
                      </a:rPr>
                      <m:t>×</m:t>
                    </m:r>
                    <m:sSubSup>
                      <m:sSubSupPr>
                        <m:ctrlPr>
                          <a:rPr lang="en-US" sz="2000" b="0" i="1" smtClean="0">
                            <a:solidFill>
                              <a:schemeClr val="bg1"/>
                            </a:solidFill>
                            <a:latin typeface="Cambria Math" panose="02040503050406030204" pitchFamily="18" charset="0"/>
                          </a:rPr>
                        </m:ctrlPr>
                      </m:sSubSupPr>
                      <m:e>
                        <m:r>
                          <a:rPr lang="en-US" sz="2000" b="0" i="1" smtClean="0">
                            <a:solidFill>
                              <a:schemeClr val="bg1"/>
                            </a:solidFill>
                            <a:latin typeface="Cambria Math" panose="02040503050406030204" pitchFamily="18" charset="0"/>
                          </a:rPr>
                          <m:t>𝑋</m:t>
                        </m:r>
                      </m:e>
                      <m:sub>
                        <m:r>
                          <a:rPr lang="en-US" sz="2000" b="0" i="1" smtClean="0">
                            <a:solidFill>
                              <a:schemeClr val="bg1"/>
                            </a:solidFill>
                            <a:latin typeface="Cambria Math" panose="02040503050406030204" pitchFamily="18" charset="0"/>
                          </a:rPr>
                          <m:t>𝑡</m:t>
                        </m:r>
                      </m:sub>
                      <m:sup>
                        <m:r>
                          <a:rPr lang="en-US" sz="2000" b="0" i="1" smtClean="0">
                            <a:solidFill>
                              <a:schemeClr val="bg1"/>
                            </a:solidFill>
                            <a:latin typeface="Cambria Math" panose="02040503050406030204" pitchFamily="18" charset="0"/>
                          </a:rPr>
                          <m:t>𝑗</m:t>
                        </m:r>
                      </m:sup>
                    </m:sSubSup>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𝜔</m:t>
                        </m:r>
                      </m:e>
                    </m:d>
                  </m:oMath>
                </a14:m>
                <a:r>
                  <a:rPr lang="en-IN" sz="2000" dirty="0">
                    <a:solidFill>
                      <a:schemeClr val="bg1"/>
                    </a:solidFill>
                  </a:rPr>
                  <a:t> with </a:t>
                </a:r>
                <a14:m>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𝑢</m:t>
                        </m:r>
                      </m:e>
                      <m:sub>
                        <m:r>
                          <a:rPr lang="en-US" sz="2000" b="0" i="1" smtClean="0">
                            <a:solidFill>
                              <a:schemeClr val="bg1"/>
                            </a:solidFill>
                            <a:latin typeface="Cambria Math" panose="02040503050406030204" pitchFamily="18" charset="0"/>
                          </a:rPr>
                          <m:t>𝑖𝑖</m:t>
                        </m:r>
                      </m:sub>
                    </m:sSub>
                  </m:oMath>
                </a14:m>
                <a:r>
                  <a:rPr lang="en-IN" sz="2000" dirty="0">
                    <a:solidFill>
                      <a:schemeClr val="bg1"/>
                    </a:solidFill>
                  </a:rPr>
                  <a:t> = 1 and 0 otherwise. </a:t>
                </a:r>
              </a:p>
              <a:p>
                <a:pPr marL="342900" indent="-342900">
                  <a:buFont typeface="Wingdings" panose="05000000000000000000" pitchFamily="2" charset="2"/>
                  <a:buChar char="q"/>
                </a:pPr>
                <a:r>
                  <a:rPr lang="en-IN" sz="2000" dirty="0">
                    <a:solidFill>
                      <a:schemeClr val="bg1"/>
                    </a:solidFill>
                  </a:rPr>
                  <a:t>Now it is clear that in this case if type </a:t>
                </a:r>
                <a14:m>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𝜃</m:t>
                        </m:r>
                      </m:e>
                      <m:sub>
                        <m:r>
                          <a:rPr lang="en-US" sz="2000" b="0" i="1" smtClean="0">
                            <a:solidFill>
                              <a:schemeClr val="bg1"/>
                            </a:solidFill>
                            <a:latin typeface="Cambria Math" panose="02040503050406030204" pitchFamily="18" charset="0"/>
                          </a:rPr>
                          <m:t>𝑖</m:t>
                        </m:r>
                      </m:sub>
                    </m:sSub>
                  </m:oMath>
                </a14:m>
                <a:r>
                  <a:rPr lang="en-IN" sz="2000" dirty="0">
                    <a:solidFill>
                      <a:schemeClr val="bg1"/>
                    </a:solidFill>
                  </a:rPr>
                  <a:t> is selected the utility is maximized uniquely for the community </a:t>
                </a:r>
                <a14:m>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𝑐</m:t>
                        </m:r>
                      </m:e>
                      <m:sub>
                        <m:r>
                          <a:rPr lang="en-US" sz="2000" b="0" i="1" smtClean="0">
                            <a:solidFill>
                              <a:schemeClr val="bg1"/>
                            </a:solidFill>
                            <a:latin typeface="Cambria Math" panose="02040503050406030204" pitchFamily="18" charset="0"/>
                          </a:rPr>
                          <m:t>𝑖</m:t>
                        </m:r>
                      </m:sub>
                    </m:sSub>
                  </m:oMath>
                </a14:m>
                <a:r>
                  <a:rPr lang="en-IN" sz="2000" dirty="0">
                    <a:solidFill>
                      <a:schemeClr val="bg1"/>
                    </a:solidFill>
                  </a:rPr>
                  <a:t>.</a:t>
                </a:r>
              </a:p>
            </p:txBody>
          </p:sp>
        </mc:Choice>
        <mc:Fallback xmlns="">
          <p:sp>
            <p:nvSpPr>
              <p:cNvPr id="3" name="TextBox 2">
                <a:extLst>
                  <a:ext uri="{FF2B5EF4-FFF2-40B4-BE49-F238E27FC236}">
                    <a16:creationId xmlns:a16="http://schemas.microsoft.com/office/drawing/2014/main" id="{61C1F9E3-753E-C73F-523A-A108532F9D33}"/>
                  </a:ext>
                </a:extLst>
              </p:cNvPr>
              <p:cNvSpPr txBox="1">
                <a:spLocks noRot="1" noChangeAspect="1" noMove="1" noResize="1" noEditPoints="1" noAdjustHandles="1" noChangeArrowheads="1" noChangeShapeType="1" noTextEdit="1"/>
              </p:cNvSpPr>
              <p:nvPr/>
            </p:nvSpPr>
            <p:spPr>
              <a:xfrm>
                <a:off x="541176" y="1688841"/>
                <a:ext cx="9097346" cy="1746953"/>
              </a:xfrm>
              <a:prstGeom prst="rect">
                <a:avLst/>
              </a:prstGeom>
              <a:blipFill>
                <a:blip r:embed="rId2"/>
                <a:stretch>
                  <a:fillRect l="-603" t="-1394" b="-3484"/>
                </a:stretch>
              </a:blipFill>
            </p:spPr>
            <p:txBody>
              <a:bodyPr/>
              <a:lstStyle/>
              <a:p>
                <a:r>
                  <a:rPr lang="en-IN">
                    <a:noFill/>
                  </a:rPr>
                  <a:t> </a:t>
                </a:r>
              </a:p>
            </p:txBody>
          </p:sp>
        </mc:Fallback>
      </mc:AlternateContent>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701731"/>
          </a:xfrm>
        </p:spPr>
        <p:txBody>
          <a:bodyPr/>
          <a:lstStyle/>
          <a:p>
            <a:r>
              <a:rPr lang="en-US" sz="4400" dirty="0">
                <a:latin typeface="Bahnschrift Light SemiCondensed" panose="020B0502040204020203" pitchFamily="34" charset="0"/>
              </a:rPr>
              <a:t>Community Evolution Theory via Urn Model</a:t>
            </a:r>
          </a:p>
        </p:txBody>
      </p:sp>
      <p:sp>
        <p:nvSpPr>
          <p:cNvPr id="2" name="Slide Number Placeholder 1">
            <a:extLst>
              <a:ext uri="{FF2B5EF4-FFF2-40B4-BE49-F238E27FC236}">
                <a16:creationId xmlns:a16="http://schemas.microsoft.com/office/drawing/2014/main" id="{CC1F11E7-EDE5-4119-BA64-4FC57C285D19}"/>
              </a:ext>
            </a:extLst>
          </p:cNvPr>
          <p:cNvSpPr>
            <a:spLocks noGrp="1"/>
          </p:cNvSpPr>
          <p:nvPr>
            <p:ph type="sldNum" sz="quarter" idx="12"/>
          </p:nvPr>
        </p:nvSpPr>
        <p:spPr/>
        <p:txBody>
          <a:bodyPr/>
          <a:lstStyle/>
          <a:p>
            <a:fld id="{C263D6C4-4840-40CC-AC84-17E24B3B7BDE}" type="slidenum">
              <a:rPr lang="en-US" smtClean="0"/>
              <a:pPr/>
              <a:t>7</a:t>
            </a:fld>
            <a:endParaRPr lang="en-US"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7BC6AAB-F1D3-FAE9-FA70-3F702221C430}"/>
                  </a:ext>
                </a:extLst>
              </p:cNvPr>
              <p:cNvSpPr txBox="1"/>
              <p:nvPr/>
            </p:nvSpPr>
            <p:spPr>
              <a:xfrm>
                <a:off x="578498" y="1586204"/>
                <a:ext cx="10926147" cy="4111382"/>
              </a:xfrm>
              <a:prstGeom prst="rect">
                <a:avLst/>
              </a:prstGeom>
              <a:noFill/>
            </p:spPr>
            <p:txBody>
              <a:bodyPr wrap="square" rtlCol="0">
                <a:spAutoFit/>
              </a:bodyPr>
              <a:lstStyle/>
              <a:p>
                <a:pPr marL="342900" indent="-342900">
                  <a:buFont typeface="Wingdings" panose="05000000000000000000" pitchFamily="2" charset="2"/>
                  <a:buChar char="q"/>
                </a:pPr>
                <a:r>
                  <a:rPr lang="en-US" sz="2000" dirty="0">
                    <a:solidFill>
                      <a:schemeClr val="bg1"/>
                    </a:solidFill>
                  </a:rPr>
                  <a:t>We start with the simplest case when </a:t>
                </a:r>
                <a14:m>
                  <m:oMath xmlns:m="http://schemas.openxmlformats.org/officeDocument/2006/math">
                    <m:r>
                      <m:rPr>
                        <m:sty m:val="p"/>
                      </m:rPr>
                      <a:rPr lang="en-US" sz="2000" b="0" i="1" smtClean="0">
                        <a:solidFill>
                          <a:schemeClr val="bg1"/>
                        </a:solidFill>
                        <a:latin typeface="Cambria Math" panose="02040503050406030204" pitchFamily="18" charset="0"/>
                      </a:rPr>
                      <m:t>l</m:t>
                    </m:r>
                    <m:r>
                      <a:rPr lang="en-US" sz="2000" b="0" i="1" smtClean="0">
                        <a:solidFill>
                          <a:schemeClr val="bg1"/>
                        </a:solidFill>
                        <a:latin typeface="Cambria Math" panose="02040503050406030204" pitchFamily="18" charset="0"/>
                      </a:rPr>
                      <m:t>=</m:t>
                    </m:r>
                    <m:r>
                      <m:rPr>
                        <m:sty m:val="p"/>
                      </m:rPr>
                      <a:rPr lang="en-US" sz="2000" b="0" i="1" smtClean="0">
                        <a:solidFill>
                          <a:schemeClr val="bg1"/>
                        </a:solidFill>
                        <a:latin typeface="Cambria Math" panose="02040503050406030204" pitchFamily="18" charset="0"/>
                      </a:rPr>
                      <m:t>k</m:t>
                    </m:r>
                    <m:r>
                      <a:rPr lang="en-US" sz="2000" b="0" i="1" smtClean="0">
                        <a:solidFill>
                          <a:schemeClr val="bg1"/>
                        </a:solidFill>
                        <a:latin typeface="Cambria Math" panose="02040503050406030204" pitchFamily="18" charset="0"/>
                      </a:rPr>
                      <m:t>=2</m:t>
                    </m:r>
                  </m:oMath>
                </a14:m>
                <a:r>
                  <a:rPr lang="en-US" sz="2000" dirty="0">
                    <a:solidFill>
                      <a:schemeClr val="bg1"/>
                    </a:solidFill>
                  </a:rPr>
                  <a:t>. Here </a:t>
                </a:r>
                <a14:m>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𝑡</m:t>
                        </m:r>
                      </m:sub>
                    </m:sSub>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𝜔</m:t>
                        </m:r>
                      </m:e>
                    </m:d>
                  </m:oMath>
                </a14:m>
                <a:r>
                  <a:rPr lang="en-US" sz="2000" dirty="0">
                    <a:solidFill>
                      <a:schemeClr val="bg1"/>
                    </a:solidFill>
                  </a:rPr>
                  <a:t> has two components that is </a:t>
                </a:r>
                <a14:m>
                  <m:oMath xmlns:m="http://schemas.openxmlformats.org/officeDocument/2006/math">
                    <m:d>
                      <m:dPr>
                        <m:ctrlPr>
                          <a:rPr lang="en-US" sz="2000" b="0" i="1" smtClean="0">
                            <a:solidFill>
                              <a:schemeClr val="bg1"/>
                            </a:solidFill>
                            <a:latin typeface="Cambria Math" panose="02040503050406030204" pitchFamily="18" charset="0"/>
                          </a:rPr>
                        </m:ctrlPr>
                      </m:dPr>
                      <m:e>
                        <m:sSubSup>
                          <m:sSubSupPr>
                            <m:ctrlPr>
                              <a:rPr lang="en-US" sz="2000" b="0" i="1" smtClean="0">
                                <a:solidFill>
                                  <a:schemeClr val="bg1"/>
                                </a:solidFill>
                                <a:latin typeface="Cambria Math" panose="02040503050406030204" pitchFamily="18" charset="0"/>
                              </a:rPr>
                            </m:ctrlPr>
                          </m:sSubSup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𝑡</m:t>
                            </m:r>
                          </m:sub>
                          <m:sup>
                            <m:r>
                              <a:rPr lang="en-US" sz="2000" b="0" i="1" smtClean="0">
                                <a:solidFill>
                                  <a:schemeClr val="bg1"/>
                                </a:solidFill>
                                <a:latin typeface="Cambria Math" panose="02040503050406030204" pitchFamily="18" charset="0"/>
                              </a:rPr>
                              <m:t>1</m:t>
                            </m:r>
                          </m:sup>
                        </m:sSubSup>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𝜔</m:t>
                            </m:r>
                          </m:e>
                        </m:d>
                        <m:r>
                          <a:rPr lang="en-US" sz="2000" b="0" i="1" smtClean="0">
                            <a:solidFill>
                              <a:schemeClr val="bg1"/>
                            </a:solidFill>
                            <a:latin typeface="Cambria Math" panose="02040503050406030204" pitchFamily="18" charset="0"/>
                          </a:rPr>
                          <m:t>,</m:t>
                        </m:r>
                        <m:sSubSup>
                          <m:sSubSupPr>
                            <m:ctrlPr>
                              <a:rPr lang="en-US" sz="2000" b="0" i="1" smtClean="0">
                                <a:solidFill>
                                  <a:schemeClr val="bg1"/>
                                </a:solidFill>
                                <a:latin typeface="Cambria Math" panose="02040503050406030204" pitchFamily="18" charset="0"/>
                              </a:rPr>
                            </m:ctrlPr>
                          </m:sSubSup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𝑡</m:t>
                            </m:r>
                          </m:sub>
                          <m:sup>
                            <m:r>
                              <a:rPr lang="en-US" sz="2000" b="0" i="1" smtClean="0">
                                <a:solidFill>
                                  <a:schemeClr val="bg1"/>
                                </a:solidFill>
                                <a:latin typeface="Cambria Math" panose="02040503050406030204" pitchFamily="18" charset="0"/>
                              </a:rPr>
                              <m:t>2</m:t>
                            </m:r>
                          </m:sup>
                        </m:sSubSup>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𝜔</m:t>
                            </m:r>
                          </m:e>
                        </m:d>
                      </m:e>
                    </m:d>
                  </m:oMath>
                </a14:m>
                <a:r>
                  <a:rPr lang="en-US" sz="2000" dirty="0">
                    <a:solidFill>
                      <a:schemeClr val="bg1"/>
                    </a:solidFill>
                  </a:rPr>
                  <a:t>. Let </a:t>
                </a:r>
                <a14:m>
                  <m:oMath xmlns:m="http://schemas.openxmlformats.org/officeDocument/2006/math">
                    <m:sSubSup>
                      <m:sSubSupPr>
                        <m:ctrlPr>
                          <a:rPr lang="en-US" sz="2000" b="0" i="1" smtClean="0">
                            <a:solidFill>
                              <a:schemeClr val="bg1"/>
                            </a:solidFill>
                            <a:latin typeface="Cambria Math" panose="02040503050406030204" pitchFamily="18" charset="0"/>
                          </a:rPr>
                        </m:ctrlPr>
                      </m:sSubSupPr>
                      <m:e>
                        <m:r>
                          <a:rPr lang="en-US" sz="2000" b="0" i="1" smtClean="0">
                            <a:solidFill>
                              <a:schemeClr val="bg1"/>
                            </a:solidFill>
                            <a:latin typeface="Cambria Math" panose="02040503050406030204" pitchFamily="18" charset="0"/>
                          </a:rPr>
                          <m:t>𝑌</m:t>
                        </m:r>
                      </m:e>
                      <m:sub>
                        <m:r>
                          <a:rPr lang="en-US" sz="2000" b="0" i="1" smtClean="0">
                            <a:solidFill>
                              <a:schemeClr val="bg1"/>
                            </a:solidFill>
                            <a:latin typeface="Cambria Math" panose="02040503050406030204" pitchFamily="18" charset="0"/>
                          </a:rPr>
                          <m:t>𝑡</m:t>
                        </m:r>
                      </m:sub>
                      <m:sup>
                        <m:r>
                          <a:rPr lang="en-US" sz="2000" b="0" i="1" smtClean="0">
                            <a:solidFill>
                              <a:schemeClr val="bg1"/>
                            </a:solidFill>
                            <a:latin typeface="Cambria Math" panose="02040503050406030204" pitchFamily="18" charset="0"/>
                          </a:rPr>
                          <m:t>1</m:t>
                        </m:r>
                      </m:sup>
                    </m:sSubSup>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𝜔</m:t>
                        </m:r>
                      </m:e>
                    </m:d>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𝑎</m:t>
                    </m:r>
                  </m:oMath>
                </a14:m>
                <a:r>
                  <a:rPr lang="en-US" sz="2000" dirty="0">
                    <a:solidFill>
                      <a:schemeClr val="bg1"/>
                    </a:solidFill>
                  </a:rPr>
                  <a:t> and </a:t>
                </a:r>
                <a14:m>
                  <m:oMath xmlns:m="http://schemas.openxmlformats.org/officeDocument/2006/math">
                    <m:sSubSup>
                      <m:sSubSupPr>
                        <m:ctrlPr>
                          <a:rPr lang="en-US" sz="2000" i="1">
                            <a:solidFill>
                              <a:schemeClr val="bg1"/>
                            </a:solidFill>
                            <a:latin typeface="Cambria Math" panose="02040503050406030204" pitchFamily="18" charset="0"/>
                          </a:rPr>
                        </m:ctrlPr>
                      </m:sSubSupPr>
                      <m:e>
                        <m:r>
                          <a:rPr lang="en-US" sz="2000" i="1">
                            <a:solidFill>
                              <a:schemeClr val="bg1"/>
                            </a:solidFill>
                            <a:latin typeface="Cambria Math" panose="02040503050406030204" pitchFamily="18" charset="0"/>
                          </a:rPr>
                          <m:t>𝑌</m:t>
                        </m:r>
                      </m:e>
                      <m:sub>
                        <m:r>
                          <a:rPr lang="en-US" sz="2000" i="1">
                            <a:solidFill>
                              <a:schemeClr val="bg1"/>
                            </a:solidFill>
                            <a:latin typeface="Cambria Math" panose="02040503050406030204" pitchFamily="18" charset="0"/>
                          </a:rPr>
                          <m:t>𝑡</m:t>
                        </m:r>
                      </m:sub>
                      <m:sup>
                        <m:r>
                          <a:rPr lang="en-US" sz="2000" i="1">
                            <a:solidFill>
                              <a:schemeClr val="bg1"/>
                            </a:solidFill>
                            <a:latin typeface="Cambria Math" panose="02040503050406030204" pitchFamily="18" charset="0"/>
                          </a:rPr>
                          <m:t>2</m:t>
                        </m:r>
                      </m:sup>
                    </m:sSubSup>
                    <m:d>
                      <m:dPr>
                        <m:ctrlPr>
                          <a:rPr lang="en-US" sz="2000" i="1">
                            <a:solidFill>
                              <a:schemeClr val="bg1"/>
                            </a:solidFill>
                            <a:latin typeface="Cambria Math" panose="02040503050406030204" pitchFamily="18" charset="0"/>
                          </a:rPr>
                        </m:ctrlPr>
                      </m:dPr>
                      <m:e>
                        <m:r>
                          <a:rPr lang="en-US" sz="2000" i="1">
                            <a:solidFill>
                              <a:schemeClr val="bg1"/>
                            </a:solidFill>
                            <a:latin typeface="Cambria Math" panose="02040503050406030204" pitchFamily="18" charset="0"/>
                          </a:rPr>
                          <m:t>𝜔</m:t>
                        </m:r>
                      </m:e>
                    </m:d>
                    <m:r>
                      <a:rPr lang="en-US" sz="2000" i="1">
                        <a:solidFill>
                          <a:schemeClr val="bg1"/>
                        </a:solidFill>
                        <a:latin typeface="Cambria Math" panose="02040503050406030204" pitchFamily="18" charset="0"/>
                      </a:rPr>
                      <m:t>=</m:t>
                    </m:r>
                    <m:r>
                      <a:rPr lang="en-US" sz="2000" i="1">
                        <a:solidFill>
                          <a:schemeClr val="bg1"/>
                        </a:solidFill>
                        <a:latin typeface="Cambria Math" panose="02040503050406030204" pitchFamily="18" charset="0"/>
                      </a:rPr>
                      <m:t>𝑏</m:t>
                    </m:r>
                  </m:oMath>
                </a14:m>
                <a:r>
                  <a:rPr lang="en-US" sz="2000" dirty="0">
                    <a:solidFill>
                      <a:schemeClr val="bg1"/>
                    </a:solidFill>
                  </a:rPr>
                  <a:t> here </a:t>
                </a:r>
                <a14:m>
                  <m:oMath xmlns:m="http://schemas.openxmlformats.org/officeDocument/2006/math">
                    <m:r>
                      <m:rPr>
                        <m:sty m:val="p"/>
                      </m:rPr>
                      <a:rPr lang="en-US" sz="2000" b="0" i="1" smtClean="0">
                        <a:solidFill>
                          <a:schemeClr val="bg1"/>
                        </a:solidFill>
                        <a:latin typeface="Cambria Math" panose="02040503050406030204" pitchFamily="18" charset="0"/>
                      </a:rPr>
                      <m:t>a</m:t>
                    </m:r>
                    <m:r>
                      <a:rPr lang="en-US" sz="2000" b="0" i="1" smtClean="0">
                        <a:solidFill>
                          <a:schemeClr val="bg1"/>
                        </a:solidFill>
                        <a:latin typeface="Cambria Math" panose="02040503050406030204" pitchFamily="18" charset="0"/>
                      </a:rPr>
                      <m:t>,</m:t>
                    </m:r>
                    <m:r>
                      <m:rPr>
                        <m:sty m:val="p"/>
                      </m:rPr>
                      <a:rPr lang="en-US" sz="2000" b="0" i="1" smtClean="0">
                        <a:solidFill>
                          <a:schemeClr val="bg1"/>
                        </a:solidFill>
                        <a:latin typeface="Cambria Math" panose="02040503050406030204" pitchFamily="18" charset="0"/>
                      </a:rPr>
                      <m:t>b</m:t>
                    </m:r>
                    <m:r>
                      <a:rPr lang="en-US" sz="2000" b="0" i="1" smtClean="0">
                        <a:solidFill>
                          <a:schemeClr val="bg1"/>
                        </a:solidFill>
                        <a:latin typeface="Cambria Math" panose="02040503050406030204" pitchFamily="18" charset="0"/>
                      </a:rPr>
                      <m:t> &gt;0</m:t>
                    </m:r>
                  </m:oMath>
                </a14:m>
                <a:r>
                  <a:rPr lang="en-US" sz="2000" dirty="0">
                    <a:solidFill>
                      <a:schemeClr val="bg1"/>
                    </a:solidFill>
                  </a:rPr>
                  <a:t> and a + b = m. Then, we can express the reinforcement in the communities according to the following structure :</a:t>
                </a:r>
              </a:p>
              <a:p>
                <a:pPr marL="342900" indent="-342900" algn="ctr">
                  <a:buFont typeface="Wingdings" panose="05000000000000000000" pitchFamily="2" charset="2"/>
                  <a:buChar char="q"/>
                </a:pPr>
                <a14:m>
                  <m:oMath xmlns:m="http://schemas.openxmlformats.org/officeDocument/2006/math">
                    <m:sSubSup>
                      <m:sSubSupPr>
                        <m:ctrlPr>
                          <a:rPr lang="en-IN" sz="2000" i="1" smtClean="0">
                            <a:solidFill>
                              <a:schemeClr val="bg1"/>
                            </a:solidFill>
                            <a:latin typeface="Cambria Math" panose="02040503050406030204" pitchFamily="18" charset="0"/>
                          </a:rPr>
                        </m:ctrlPr>
                      </m:sSubSupPr>
                      <m:e>
                        <m:r>
                          <a:rPr lang="en-IN" sz="2000" i="1">
                            <a:solidFill>
                              <a:schemeClr val="bg1"/>
                            </a:solidFill>
                            <a:latin typeface="Cambria Math" panose="02040503050406030204" pitchFamily="18" charset="0"/>
                          </a:rPr>
                          <m:t>𝑌</m:t>
                        </m:r>
                      </m:e>
                      <m:sub>
                        <m:r>
                          <a:rPr lang="en-IN" sz="2000" i="1">
                            <a:solidFill>
                              <a:schemeClr val="bg1"/>
                            </a:solidFill>
                            <a:latin typeface="Cambria Math" panose="02040503050406030204" pitchFamily="18" charset="0"/>
                          </a:rPr>
                          <m:t>𝑡</m:t>
                        </m:r>
                        <m:r>
                          <a:rPr lang="en-IN" sz="2000" i="1">
                            <a:solidFill>
                              <a:schemeClr val="bg1"/>
                            </a:solidFill>
                            <a:latin typeface="Cambria Math" panose="02040503050406030204" pitchFamily="18" charset="0"/>
                          </a:rPr>
                          <m:t>+1</m:t>
                        </m:r>
                      </m:sub>
                      <m:sup>
                        <m:r>
                          <a:rPr lang="en-IN" sz="2000" i="1">
                            <a:solidFill>
                              <a:schemeClr val="bg1"/>
                            </a:solidFill>
                            <a:latin typeface="Cambria Math" panose="02040503050406030204" pitchFamily="18" charset="0"/>
                          </a:rPr>
                          <m:t>1</m:t>
                        </m:r>
                      </m:sup>
                    </m:sSubSup>
                    <m:d>
                      <m:dPr>
                        <m:ctrlPr>
                          <a:rPr lang="en-IN" sz="2000" i="1">
                            <a:solidFill>
                              <a:schemeClr val="bg1"/>
                            </a:solidFill>
                            <a:latin typeface="Cambria Math" panose="02040503050406030204" pitchFamily="18" charset="0"/>
                          </a:rPr>
                        </m:ctrlPr>
                      </m:dPr>
                      <m:e>
                        <m:r>
                          <a:rPr lang="en-IN" sz="2000" i="1">
                            <a:solidFill>
                              <a:schemeClr val="bg1"/>
                            </a:solidFill>
                            <a:latin typeface="Cambria Math" panose="02040503050406030204" pitchFamily="18" charset="0"/>
                          </a:rPr>
                          <m:t>𝜔</m:t>
                        </m:r>
                      </m:e>
                    </m:d>
                    <m:r>
                      <a:rPr lang="en-IN" sz="2000" i="1">
                        <a:solidFill>
                          <a:schemeClr val="bg1"/>
                        </a:solidFill>
                        <a:latin typeface="Cambria Math" panose="02040503050406030204" pitchFamily="18" charset="0"/>
                      </a:rPr>
                      <m:t>=</m:t>
                    </m:r>
                    <m:sSubSup>
                      <m:sSubSupPr>
                        <m:ctrlPr>
                          <a:rPr lang="en-IN" sz="2000" i="1">
                            <a:solidFill>
                              <a:schemeClr val="bg1"/>
                            </a:solidFill>
                            <a:latin typeface="Cambria Math" panose="02040503050406030204" pitchFamily="18" charset="0"/>
                          </a:rPr>
                        </m:ctrlPr>
                      </m:sSubSupPr>
                      <m:e>
                        <m:r>
                          <a:rPr lang="en-IN" sz="2000" i="1">
                            <a:solidFill>
                              <a:schemeClr val="bg1"/>
                            </a:solidFill>
                            <a:latin typeface="Cambria Math" panose="02040503050406030204" pitchFamily="18" charset="0"/>
                          </a:rPr>
                          <m:t>𝑌</m:t>
                        </m:r>
                      </m:e>
                      <m:sub>
                        <m:r>
                          <a:rPr lang="en-IN" sz="2000" i="1">
                            <a:solidFill>
                              <a:schemeClr val="bg1"/>
                            </a:solidFill>
                            <a:latin typeface="Cambria Math" panose="02040503050406030204" pitchFamily="18" charset="0"/>
                          </a:rPr>
                          <m:t>𝑡</m:t>
                        </m:r>
                      </m:sub>
                      <m:sup>
                        <m:r>
                          <a:rPr lang="en-IN" sz="2000" i="1">
                            <a:solidFill>
                              <a:schemeClr val="bg1"/>
                            </a:solidFill>
                            <a:latin typeface="Cambria Math" panose="02040503050406030204" pitchFamily="18" charset="0"/>
                          </a:rPr>
                          <m:t>1</m:t>
                        </m:r>
                      </m:sup>
                    </m:sSubSup>
                    <m:d>
                      <m:dPr>
                        <m:ctrlPr>
                          <a:rPr lang="en-IN" sz="2000" i="1">
                            <a:solidFill>
                              <a:schemeClr val="bg1"/>
                            </a:solidFill>
                            <a:latin typeface="Cambria Math" panose="02040503050406030204" pitchFamily="18" charset="0"/>
                          </a:rPr>
                        </m:ctrlPr>
                      </m:dPr>
                      <m:e>
                        <m:r>
                          <a:rPr lang="en-IN" sz="2000" i="1">
                            <a:solidFill>
                              <a:schemeClr val="bg1"/>
                            </a:solidFill>
                            <a:latin typeface="Cambria Math" panose="02040503050406030204" pitchFamily="18" charset="0"/>
                          </a:rPr>
                          <m:t>𝜔</m:t>
                        </m:r>
                      </m:e>
                    </m:d>
                    <m:r>
                      <a:rPr lang="en-IN" sz="2000" i="1">
                        <a:solidFill>
                          <a:schemeClr val="bg1"/>
                        </a:solidFill>
                        <a:latin typeface="Cambria Math" panose="02040503050406030204" pitchFamily="18" charset="0"/>
                      </a:rPr>
                      <m:t>+</m:t>
                    </m:r>
                    <m:sSub>
                      <m:sSubPr>
                        <m:ctrlPr>
                          <a:rPr lang="en-IN" sz="2000" i="1">
                            <a:solidFill>
                              <a:schemeClr val="bg1"/>
                            </a:solidFill>
                            <a:latin typeface="Cambria Math" panose="02040503050406030204" pitchFamily="18" charset="0"/>
                          </a:rPr>
                        </m:ctrlPr>
                      </m:sSubPr>
                      <m:e>
                        <m:r>
                          <a:rPr lang="en-IN" sz="2000" i="1">
                            <a:solidFill>
                              <a:schemeClr val="bg1"/>
                            </a:solidFill>
                            <a:latin typeface="Cambria Math" panose="02040503050406030204" pitchFamily="18" charset="0"/>
                          </a:rPr>
                          <m:t>𝐼</m:t>
                        </m:r>
                      </m:e>
                      <m:sub>
                        <m:r>
                          <m:rPr>
                            <m:lit/>
                          </m:rPr>
                          <a:rPr lang="en-IN" sz="2000" i="1">
                            <a:solidFill>
                              <a:schemeClr val="bg1"/>
                            </a:solidFill>
                            <a:latin typeface="Cambria Math" panose="02040503050406030204" pitchFamily="18" charset="0"/>
                          </a:rPr>
                          <m:t>{</m:t>
                        </m:r>
                        <m:sSub>
                          <m:sSubPr>
                            <m:ctrlPr>
                              <a:rPr lang="en-IN" sz="2000" i="1">
                                <a:solidFill>
                                  <a:schemeClr val="bg1"/>
                                </a:solidFill>
                                <a:latin typeface="Cambria Math" panose="02040503050406030204" pitchFamily="18" charset="0"/>
                              </a:rPr>
                            </m:ctrlPr>
                          </m:sSubPr>
                          <m:e>
                            <m:r>
                              <a:rPr lang="en-IN" sz="2000" i="1">
                                <a:solidFill>
                                  <a:schemeClr val="bg1"/>
                                </a:solidFill>
                                <a:latin typeface="Cambria Math" panose="02040503050406030204" pitchFamily="18" charset="0"/>
                              </a:rPr>
                              <m:t>𝑈</m:t>
                            </m:r>
                          </m:e>
                          <m:sub>
                            <m:r>
                              <a:rPr lang="en-IN" sz="2000" i="1">
                                <a:solidFill>
                                  <a:schemeClr val="bg1"/>
                                </a:solidFill>
                                <a:latin typeface="Cambria Math" panose="02040503050406030204" pitchFamily="18" charset="0"/>
                              </a:rPr>
                              <m:t>𝑡</m:t>
                            </m:r>
                            <m:r>
                              <a:rPr lang="en-IN" sz="2000" i="1">
                                <a:solidFill>
                                  <a:schemeClr val="bg1"/>
                                </a:solidFill>
                                <a:latin typeface="Cambria Math" panose="02040503050406030204" pitchFamily="18" charset="0"/>
                              </a:rPr>
                              <m:t>+1</m:t>
                            </m:r>
                          </m:sub>
                        </m:sSub>
                        <m:r>
                          <a:rPr lang="en-IN" sz="2000" i="1">
                            <a:solidFill>
                              <a:schemeClr val="bg1"/>
                            </a:solidFill>
                            <a:latin typeface="Cambria Math" panose="02040503050406030204" pitchFamily="18" charset="0"/>
                          </a:rPr>
                          <m:t>≤</m:t>
                        </m:r>
                        <m:sSubSup>
                          <m:sSubSupPr>
                            <m:ctrlPr>
                              <a:rPr lang="en-IN" sz="2000" i="1">
                                <a:solidFill>
                                  <a:schemeClr val="bg1"/>
                                </a:solidFill>
                                <a:latin typeface="Cambria Math" panose="02040503050406030204" pitchFamily="18" charset="0"/>
                              </a:rPr>
                            </m:ctrlPr>
                          </m:sSubSupPr>
                          <m:e>
                            <m:r>
                              <a:rPr lang="en-IN" sz="2000" i="1">
                                <a:solidFill>
                                  <a:schemeClr val="bg1"/>
                                </a:solidFill>
                                <a:latin typeface="Cambria Math" panose="02040503050406030204" pitchFamily="18" charset="0"/>
                              </a:rPr>
                              <m:t>𝑋</m:t>
                            </m:r>
                          </m:e>
                          <m:sub>
                            <m:r>
                              <a:rPr lang="en-IN" sz="2000" i="1">
                                <a:solidFill>
                                  <a:schemeClr val="bg1"/>
                                </a:solidFill>
                                <a:latin typeface="Cambria Math" panose="02040503050406030204" pitchFamily="18" charset="0"/>
                              </a:rPr>
                              <m:t>𝑡</m:t>
                            </m:r>
                          </m:sub>
                          <m:sup>
                            <m:r>
                              <a:rPr lang="en-IN" sz="2000" i="1">
                                <a:solidFill>
                                  <a:schemeClr val="bg1"/>
                                </a:solidFill>
                                <a:latin typeface="Cambria Math" panose="02040503050406030204" pitchFamily="18" charset="0"/>
                              </a:rPr>
                              <m:t>1</m:t>
                            </m:r>
                          </m:sup>
                        </m:sSubSup>
                        <m:d>
                          <m:dPr>
                            <m:ctrlPr>
                              <a:rPr lang="en-IN" sz="2000" i="1">
                                <a:solidFill>
                                  <a:schemeClr val="bg1"/>
                                </a:solidFill>
                                <a:latin typeface="Cambria Math" panose="02040503050406030204" pitchFamily="18" charset="0"/>
                              </a:rPr>
                            </m:ctrlPr>
                          </m:dPr>
                          <m:e>
                            <m:r>
                              <a:rPr lang="en-IN" sz="2000" i="1">
                                <a:solidFill>
                                  <a:schemeClr val="bg1"/>
                                </a:solidFill>
                                <a:latin typeface="Cambria Math" panose="02040503050406030204" pitchFamily="18" charset="0"/>
                              </a:rPr>
                              <m:t>𝜔</m:t>
                            </m:r>
                          </m:e>
                        </m:d>
                        <m:r>
                          <m:rPr>
                            <m:lit/>
                          </m:rPr>
                          <a:rPr lang="en-IN" sz="2000" i="1">
                            <a:solidFill>
                              <a:schemeClr val="bg1"/>
                            </a:solidFill>
                            <a:latin typeface="Cambria Math" panose="02040503050406030204" pitchFamily="18" charset="0"/>
                          </a:rPr>
                          <m:t>}</m:t>
                        </m:r>
                      </m:sub>
                    </m:sSub>
                  </m:oMath>
                </a14:m>
                <a:endParaRPr lang="en-IN" sz="2000" dirty="0">
                  <a:solidFill>
                    <a:schemeClr val="bg1"/>
                  </a:solidFill>
                </a:endParaRPr>
              </a:p>
              <a:p>
                <a:pPr marL="342900" indent="-342900" algn="ctr">
                  <a:buFont typeface="Wingdings" panose="05000000000000000000" pitchFamily="2" charset="2"/>
                  <a:buChar char="q"/>
                </a:pPr>
                <a14:m>
                  <m:oMath xmlns:m="http://schemas.openxmlformats.org/officeDocument/2006/math">
                    <m:sSubSup>
                      <m:sSubSupPr>
                        <m:ctrlPr>
                          <a:rPr lang="en-IN" sz="2000" i="1" smtClean="0">
                            <a:solidFill>
                              <a:schemeClr val="bg1"/>
                            </a:solidFill>
                            <a:latin typeface="Cambria Math" panose="02040503050406030204" pitchFamily="18" charset="0"/>
                          </a:rPr>
                        </m:ctrlPr>
                      </m:sSubSupPr>
                      <m:e>
                        <m:r>
                          <a:rPr lang="en-IN" sz="2000" i="1">
                            <a:solidFill>
                              <a:schemeClr val="bg1"/>
                            </a:solidFill>
                            <a:latin typeface="Cambria Math" panose="02040503050406030204" pitchFamily="18" charset="0"/>
                          </a:rPr>
                          <m:t>𝑌</m:t>
                        </m:r>
                      </m:e>
                      <m:sub>
                        <m:r>
                          <a:rPr lang="en-IN" sz="2000" i="1">
                            <a:solidFill>
                              <a:schemeClr val="bg1"/>
                            </a:solidFill>
                            <a:latin typeface="Cambria Math" panose="02040503050406030204" pitchFamily="18" charset="0"/>
                          </a:rPr>
                          <m:t>𝑡</m:t>
                        </m:r>
                        <m:r>
                          <a:rPr lang="en-IN" sz="2000" i="1">
                            <a:solidFill>
                              <a:schemeClr val="bg1"/>
                            </a:solidFill>
                            <a:latin typeface="Cambria Math" panose="02040503050406030204" pitchFamily="18" charset="0"/>
                          </a:rPr>
                          <m:t>+1</m:t>
                        </m:r>
                      </m:sub>
                      <m:sup>
                        <m:r>
                          <a:rPr lang="en-IN" sz="2000" i="1">
                            <a:solidFill>
                              <a:schemeClr val="bg1"/>
                            </a:solidFill>
                            <a:latin typeface="Cambria Math" panose="02040503050406030204" pitchFamily="18" charset="0"/>
                          </a:rPr>
                          <m:t>2</m:t>
                        </m:r>
                      </m:sup>
                    </m:sSubSup>
                    <m:d>
                      <m:dPr>
                        <m:ctrlPr>
                          <a:rPr lang="en-IN" sz="2000" i="1">
                            <a:solidFill>
                              <a:schemeClr val="bg1"/>
                            </a:solidFill>
                            <a:latin typeface="Cambria Math" panose="02040503050406030204" pitchFamily="18" charset="0"/>
                          </a:rPr>
                        </m:ctrlPr>
                      </m:dPr>
                      <m:e>
                        <m:r>
                          <a:rPr lang="en-IN" sz="2000" i="1">
                            <a:solidFill>
                              <a:schemeClr val="bg1"/>
                            </a:solidFill>
                            <a:latin typeface="Cambria Math" panose="02040503050406030204" pitchFamily="18" charset="0"/>
                          </a:rPr>
                          <m:t>𝜔</m:t>
                        </m:r>
                      </m:e>
                    </m:d>
                    <m:r>
                      <a:rPr lang="en-IN" sz="2000" i="1">
                        <a:solidFill>
                          <a:schemeClr val="bg1"/>
                        </a:solidFill>
                        <a:latin typeface="Cambria Math" panose="02040503050406030204" pitchFamily="18" charset="0"/>
                      </a:rPr>
                      <m:t>=</m:t>
                    </m:r>
                    <m:sSubSup>
                      <m:sSubSupPr>
                        <m:ctrlPr>
                          <a:rPr lang="en-IN" sz="2000" i="1">
                            <a:solidFill>
                              <a:schemeClr val="bg1"/>
                            </a:solidFill>
                            <a:latin typeface="Cambria Math" panose="02040503050406030204" pitchFamily="18" charset="0"/>
                          </a:rPr>
                        </m:ctrlPr>
                      </m:sSubSupPr>
                      <m:e>
                        <m:r>
                          <a:rPr lang="en-IN" sz="2000" i="1">
                            <a:solidFill>
                              <a:schemeClr val="bg1"/>
                            </a:solidFill>
                            <a:latin typeface="Cambria Math" panose="02040503050406030204" pitchFamily="18" charset="0"/>
                          </a:rPr>
                          <m:t>𝑌</m:t>
                        </m:r>
                      </m:e>
                      <m:sub>
                        <m:r>
                          <a:rPr lang="en-IN" sz="2000" i="1">
                            <a:solidFill>
                              <a:schemeClr val="bg1"/>
                            </a:solidFill>
                            <a:latin typeface="Cambria Math" panose="02040503050406030204" pitchFamily="18" charset="0"/>
                          </a:rPr>
                          <m:t>𝑡</m:t>
                        </m:r>
                      </m:sub>
                      <m:sup>
                        <m:r>
                          <a:rPr lang="en-IN" sz="2000" i="1">
                            <a:solidFill>
                              <a:schemeClr val="bg1"/>
                            </a:solidFill>
                            <a:latin typeface="Cambria Math" panose="02040503050406030204" pitchFamily="18" charset="0"/>
                          </a:rPr>
                          <m:t>2</m:t>
                        </m:r>
                      </m:sup>
                    </m:sSubSup>
                    <m:d>
                      <m:dPr>
                        <m:ctrlPr>
                          <a:rPr lang="en-IN" sz="2000" i="1">
                            <a:solidFill>
                              <a:schemeClr val="bg1"/>
                            </a:solidFill>
                            <a:latin typeface="Cambria Math" panose="02040503050406030204" pitchFamily="18" charset="0"/>
                          </a:rPr>
                        </m:ctrlPr>
                      </m:dPr>
                      <m:e>
                        <m:r>
                          <a:rPr lang="en-IN" sz="2000" i="1">
                            <a:solidFill>
                              <a:schemeClr val="bg1"/>
                            </a:solidFill>
                            <a:latin typeface="Cambria Math" panose="02040503050406030204" pitchFamily="18" charset="0"/>
                          </a:rPr>
                          <m:t>𝜔</m:t>
                        </m:r>
                      </m:e>
                    </m:d>
                    <m:r>
                      <a:rPr lang="en-IN" sz="2000" i="1">
                        <a:solidFill>
                          <a:schemeClr val="bg1"/>
                        </a:solidFill>
                        <a:latin typeface="Cambria Math" panose="02040503050406030204" pitchFamily="18" charset="0"/>
                      </a:rPr>
                      <m:t>+</m:t>
                    </m:r>
                    <m:sSub>
                      <m:sSubPr>
                        <m:ctrlPr>
                          <a:rPr lang="en-IN" sz="2000" i="1">
                            <a:solidFill>
                              <a:schemeClr val="bg1"/>
                            </a:solidFill>
                            <a:latin typeface="Cambria Math" panose="02040503050406030204" pitchFamily="18" charset="0"/>
                          </a:rPr>
                        </m:ctrlPr>
                      </m:sSubPr>
                      <m:e>
                        <m:r>
                          <a:rPr lang="en-IN" sz="2000" i="1">
                            <a:solidFill>
                              <a:schemeClr val="bg1"/>
                            </a:solidFill>
                            <a:latin typeface="Cambria Math" panose="02040503050406030204" pitchFamily="18" charset="0"/>
                          </a:rPr>
                          <m:t>𝐼</m:t>
                        </m:r>
                      </m:e>
                      <m:sub>
                        <m:r>
                          <m:rPr>
                            <m:lit/>
                          </m:rPr>
                          <a:rPr lang="en-IN" sz="2000" i="1">
                            <a:solidFill>
                              <a:schemeClr val="bg1"/>
                            </a:solidFill>
                            <a:latin typeface="Cambria Math" panose="02040503050406030204" pitchFamily="18" charset="0"/>
                          </a:rPr>
                          <m:t>{</m:t>
                        </m:r>
                        <m:sSub>
                          <m:sSubPr>
                            <m:ctrlPr>
                              <a:rPr lang="en-IN" sz="2000" i="1">
                                <a:solidFill>
                                  <a:schemeClr val="bg1"/>
                                </a:solidFill>
                                <a:latin typeface="Cambria Math" panose="02040503050406030204" pitchFamily="18" charset="0"/>
                              </a:rPr>
                            </m:ctrlPr>
                          </m:sSubPr>
                          <m:e>
                            <m:r>
                              <a:rPr lang="en-IN" sz="2000" i="1">
                                <a:solidFill>
                                  <a:schemeClr val="bg1"/>
                                </a:solidFill>
                                <a:latin typeface="Cambria Math" panose="02040503050406030204" pitchFamily="18" charset="0"/>
                              </a:rPr>
                              <m:t>𝑈</m:t>
                            </m:r>
                          </m:e>
                          <m:sub>
                            <m:r>
                              <a:rPr lang="en-IN" sz="2000" i="1">
                                <a:solidFill>
                                  <a:schemeClr val="bg1"/>
                                </a:solidFill>
                                <a:latin typeface="Cambria Math" panose="02040503050406030204" pitchFamily="18" charset="0"/>
                              </a:rPr>
                              <m:t>𝑡</m:t>
                            </m:r>
                            <m:r>
                              <a:rPr lang="en-IN" sz="2000" i="1">
                                <a:solidFill>
                                  <a:schemeClr val="bg1"/>
                                </a:solidFill>
                                <a:latin typeface="Cambria Math" panose="02040503050406030204" pitchFamily="18" charset="0"/>
                              </a:rPr>
                              <m:t>+1</m:t>
                            </m:r>
                          </m:sub>
                        </m:sSub>
                        <m:r>
                          <a:rPr lang="en-IN" sz="2000" i="1">
                            <a:solidFill>
                              <a:schemeClr val="bg1"/>
                            </a:solidFill>
                            <a:latin typeface="Cambria Math" panose="02040503050406030204" pitchFamily="18" charset="0"/>
                          </a:rPr>
                          <m:t>&gt;</m:t>
                        </m:r>
                        <m:sSubSup>
                          <m:sSubSupPr>
                            <m:ctrlPr>
                              <a:rPr lang="en-IN" sz="2000" i="1">
                                <a:solidFill>
                                  <a:schemeClr val="bg1"/>
                                </a:solidFill>
                                <a:latin typeface="Cambria Math" panose="02040503050406030204" pitchFamily="18" charset="0"/>
                              </a:rPr>
                            </m:ctrlPr>
                          </m:sSubSupPr>
                          <m:e>
                            <m:r>
                              <a:rPr lang="en-IN" sz="2000" i="1">
                                <a:solidFill>
                                  <a:schemeClr val="bg1"/>
                                </a:solidFill>
                                <a:latin typeface="Cambria Math" panose="02040503050406030204" pitchFamily="18" charset="0"/>
                              </a:rPr>
                              <m:t>𝑋</m:t>
                            </m:r>
                          </m:e>
                          <m:sub>
                            <m:r>
                              <a:rPr lang="en-IN" sz="2000" i="1">
                                <a:solidFill>
                                  <a:schemeClr val="bg1"/>
                                </a:solidFill>
                                <a:latin typeface="Cambria Math" panose="02040503050406030204" pitchFamily="18" charset="0"/>
                              </a:rPr>
                              <m:t>𝑡</m:t>
                            </m:r>
                          </m:sub>
                          <m:sup>
                            <m:r>
                              <a:rPr lang="en-IN" sz="2000" i="1">
                                <a:solidFill>
                                  <a:schemeClr val="bg1"/>
                                </a:solidFill>
                                <a:latin typeface="Cambria Math" panose="02040503050406030204" pitchFamily="18" charset="0"/>
                              </a:rPr>
                              <m:t>1</m:t>
                            </m:r>
                          </m:sup>
                        </m:sSubSup>
                        <m:d>
                          <m:dPr>
                            <m:ctrlPr>
                              <a:rPr lang="en-IN" sz="2000" i="1">
                                <a:solidFill>
                                  <a:schemeClr val="bg1"/>
                                </a:solidFill>
                                <a:latin typeface="Cambria Math" panose="02040503050406030204" pitchFamily="18" charset="0"/>
                              </a:rPr>
                            </m:ctrlPr>
                          </m:dPr>
                          <m:e>
                            <m:r>
                              <a:rPr lang="en-IN" sz="2000" i="1">
                                <a:solidFill>
                                  <a:schemeClr val="bg1"/>
                                </a:solidFill>
                                <a:latin typeface="Cambria Math" panose="02040503050406030204" pitchFamily="18" charset="0"/>
                              </a:rPr>
                              <m:t>𝜔</m:t>
                            </m:r>
                          </m:e>
                        </m:d>
                        <m:r>
                          <m:rPr>
                            <m:lit/>
                          </m:rPr>
                          <a:rPr lang="en-IN" sz="2000" i="1">
                            <a:solidFill>
                              <a:schemeClr val="bg1"/>
                            </a:solidFill>
                            <a:latin typeface="Cambria Math" panose="02040503050406030204" pitchFamily="18" charset="0"/>
                          </a:rPr>
                          <m:t>}</m:t>
                        </m:r>
                      </m:sub>
                    </m:sSub>
                  </m:oMath>
                </a14:m>
                <a:endParaRPr lang="en-IN" sz="2000" dirty="0">
                  <a:solidFill>
                    <a:schemeClr val="bg1"/>
                  </a:solidFill>
                </a:endParaRPr>
              </a:p>
              <a:p>
                <a:pPr marL="342900" indent="-342900" algn="ctr">
                  <a:buFont typeface="Wingdings" panose="05000000000000000000" pitchFamily="2" charset="2"/>
                  <a:buChar char="q"/>
                </a:pPr>
                <a:endParaRPr lang="en-IN" sz="2000" dirty="0">
                  <a:solidFill>
                    <a:schemeClr val="bg1"/>
                  </a:solidFill>
                </a:endParaRPr>
              </a:p>
              <a:p>
                <a:pPr marL="342900" indent="-342900">
                  <a:buFont typeface="Wingdings" panose="05000000000000000000" pitchFamily="2" charset="2"/>
                  <a:buChar char="q"/>
                </a:pPr>
                <a:endParaRPr lang="en-US" sz="2000" b="0" i="1" dirty="0">
                  <a:solidFill>
                    <a:schemeClr val="bg1"/>
                  </a:solidFill>
                </a:endParaRPr>
              </a:p>
              <a:p>
                <a:pPr marL="342900" indent="-342900">
                  <a:buFont typeface="Wingdings" panose="05000000000000000000" pitchFamily="2" charset="2"/>
                  <a:buChar char="q"/>
                </a:pPr>
                <a14:m>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𝑈</m:t>
                        </m:r>
                      </m:e>
                      <m:sub>
                        <m:r>
                          <a:rPr lang="en-US" sz="2000" b="0" i="1" smtClean="0">
                            <a:solidFill>
                              <a:schemeClr val="bg1"/>
                            </a:solidFill>
                            <a:latin typeface="Cambria Math" panose="02040503050406030204" pitchFamily="18" charset="0"/>
                          </a:rPr>
                          <m:t>𝑡</m:t>
                        </m:r>
                        <m:r>
                          <a:rPr lang="en-US" sz="2000" b="0" i="1" smtClean="0">
                            <a:solidFill>
                              <a:schemeClr val="bg1"/>
                            </a:solidFill>
                            <a:latin typeface="Cambria Math" panose="02040503050406030204" pitchFamily="18" charset="0"/>
                          </a:rPr>
                          <m:t>+1</m:t>
                        </m:r>
                      </m:sub>
                    </m:sSub>
                  </m:oMath>
                </a14:m>
                <a:r>
                  <a:rPr lang="en-US" sz="2000" dirty="0">
                    <a:solidFill>
                      <a:schemeClr val="bg1"/>
                    </a:solidFill>
                  </a:rPr>
                  <a:t> is a random number from </a:t>
                </a:r>
                <a14:m>
                  <m:oMath xmlns:m="http://schemas.openxmlformats.org/officeDocument/2006/math">
                    <m:r>
                      <m:rPr>
                        <m:sty m:val="p"/>
                      </m:rPr>
                      <a:rPr lang="en-US" sz="2000" b="0" i="1" smtClean="0">
                        <a:solidFill>
                          <a:schemeClr val="bg1"/>
                        </a:solidFill>
                        <a:latin typeface="Cambria Math" panose="02040503050406030204" pitchFamily="18" charset="0"/>
                      </a:rPr>
                      <m:t>U</m:t>
                    </m:r>
                    <m:r>
                      <a:rPr lang="en-US" sz="2000" b="0" i="1" smtClean="0">
                        <a:solidFill>
                          <a:schemeClr val="bg1"/>
                        </a:solidFill>
                        <a:latin typeface="Cambria Math" panose="02040503050406030204" pitchFamily="18" charset="0"/>
                      </a:rPr>
                      <m:t>(0,1)</m:t>
                    </m:r>
                  </m:oMath>
                </a14:m>
                <a:r>
                  <a:rPr lang="en-US" sz="2000" dirty="0">
                    <a:solidFill>
                      <a:schemeClr val="bg1"/>
                    </a:solidFill>
                  </a:rPr>
                  <a:t> independent of t, using which we decide which community to join.</a:t>
                </a:r>
              </a:p>
              <a:p>
                <a:pPr marL="342900" indent="-342900">
                  <a:buFont typeface="Wingdings" panose="05000000000000000000" pitchFamily="2" charset="2"/>
                  <a:buChar char="q"/>
                </a:pPr>
                <a:r>
                  <a:rPr lang="en-US" sz="2000" dirty="0">
                    <a:solidFill>
                      <a:schemeClr val="bg1"/>
                    </a:solidFill>
                  </a:rPr>
                  <a:t>Theorem : The random variable </a:t>
                </a:r>
                <a14:m>
                  <m:oMath xmlns:m="http://schemas.openxmlformats.org/officeDocument/2006/math">
                    <m:sSubSup>
                      <m:sSubSupPr>
                        <m:ctrlPr>
                          <a:rPr lang="en-US" sz="2000" b="0" i="1" smtClean="0">
                            <a:solidFill>
                              <a:schemeClr val="bg1"/>
                            </a:solidFill>
                            <a:latin typeface="Cambria Math" panose="02040503050406030204" pitchFamily="18" charset="0"/>
                          </a:rPr>
                        </m:ctrlPr>
                      </m:sSubSupPr>
                      <m:e>
                        <m:r>
                          <a:rPr lang="en-US" sz="2000" b="0" i="1" smtClean="0">
                            <a:solidFill>
                              <a:schemeClr val="bg1"/>
                            </a:solidFill>
                            <a:latin typeface="Cambria Math" panose="02040503050406030204" pitchFamily="18" charset="0"/>
                          </a:rPr>
                          <m:t>𝑋</m:t>
                        </m:r>
                      </m:e>
                      <m:sub>
                        <m:r>
                          <a:rPr lang="en-US" sz="2000" b="0" i="1" smtClean="0">
                            <a:solidFill>
                              <a:schemeClr val="bg1"/>
                            </a:solidFill>
                            <a:latin typeface="Cambria Math" panose="02040503050406030204" pitchFamily="18" charset="0"/>
                          </a:rPr>
                          <m:t>𝑡</m:t>
                        </m:r>
                      </m:sub>
                      <m:sup>
                        <m:r>
                          <a:rPr lang="en-US" sz="2000" b="0" i="1" smtClean="0">
                            <a:solidFill>
                              <a:schemeClr val="bg1"/>
                            </a:solidFill>
                            <a:latin typeface="Cambria Math" panose="02040503050406030204" pitchFamily="18" charset="0"/>
                          </a:rPr>
                          <m:t>1</m:t>
                        </m:r>
                      </m:sup>
                    </m:sSubSup>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𝜔</m:t>
                        </m:r>
                      </m:e>
                    </m:d>
                  </m:oMath>
                </a14:m>
                <a:r>
                  <a:rPr lang="en-US" sz="2000" dirty="0">
                    <a:solidFill>
                      <a:schemeClr val="bg1"/>
                    </a:solidFill>
                  </a:rPr>
                  <a:t> converges almost surely to a random variable (limit) </a:t>
                </a:r>
                <a14:m>
                  <m:oMath xmlns:m="http://schemas.openxmlformats.org/officeDocument/2006/math">
                    <m:sSup>
                      <m:sSupPr>
                        <m:ctrlPr>
                          <a:rPr lang="en-US" sz="2000" b="0" i="1" smtClean="0">
                            <a:solidFill>
                              <a:schemeClr val="bg1"/>
                            </a:solidFill>
                            <a:latin typeface="Cambria Math" panose="02040503050406030204" pitchFamily="18" charset="0"/>
                          </a:rPr>
                        </m:ctrlPr>
                      </m:sSupPr>
                      <m:e>
                        <m:r>
                          <a:rPr lang="en-US" sz="2000" b="0" i="1" smtClean="0">
                            <a:solidFill>
                              <a:schemeClr val="bg1"/>
                            </a:solidFill>
                            <a:latin typeface="Cambria Math" panose="02040503050406030204" pitchFamily="18" charset="0"/>
                          </a:rPr>
                          <m:t>𝑋</m:t>
                        </m:r>
                      </m:e>
                      <m:sup>
                        <m:r>
                          <a:rPr lang="en-US" sz="2000" b="0" i="1" smtClean="0">
                            <a:solidFill>
                              <a:schemeClr val="bg1"/>
                            </a:solidFill>
                            <a:latin typeface="Cambria Math" panose="02040503050406030204" pitchFamily="18" charset="0"/>
                          </a:rPr>
                          <m:t>1</m:t>
                        </m:r>
                      </m:sup>
                    </m:sSup>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𝜔</m:t>
                        </m:r>
                      </m:e>
                    </m:d>
                  </m:oMath>
                </a14:m>
                <a:r>
                  <a:rPr lang="en-US" sz="2000" dirty="0">
                    <a:solidFill>
                      <a:schemeClr val="bg1"/>
                    </a:solidFill>
                  </a:rPr>
                  <a:t> where </a:t>
                </a:r>
                <a14:m>
                  <m:oMath xmlns:m="http://schemas.openxmlformats.org/officeDocument/2006/math">
                    <m:sSup>
                      <m:sSupPr>
                        <m:ctrlPr>
                          <a:rPr lang="en-US" sz="2000" b="0" i="1" smtClean="0">
                            <a:solidFill>
                              <a:schemeClr val="bg1"/>
                            </a:solidFill>
                            <a:latin typeface="Cambria Math" panose="02040503050406030204" pitchFamily="18" charset="0"/>
                          </a:rPr>
                        </m:ctrlPr>
                      </m:sSupPr>
                      <m:e>
                        <m:r>
                          <a:rPr lang="en-US" sz="2000" b="0" i="1" smtClean="0">
                            <a:solidFill>
                              <a:schemeClr val="bg1"/>
                            </a:solidFill>
                            <a:latin typeface="Cambria Math" panose="02040503050406030204" pitchFamily="18" charset="0"/>
                          </a:rPr>
                          <m:t>𝑋</m:t>
                        </m:r>
                      </m:e>
                      <m:sup>
                        <m:r>
                          <a:rPr lang="en-US" sz="2000" b="0" i="1" smtClean="0">
                            <a:solidFill>
                              <a:schemeClr val="bg1"/>
                            </a:solidFill>
                            <a:latin typeface="Cambria Math" panose="02040503050406030204" pitchFamily="18" charset="0"/>
                          </a:rPr>
                          <m:t>1</m:t>
                        </m:r>
                      </m:sup>
                    </m:sSup>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𝜔</m:t>
                        </m:r>
                      </m:e>
                    </m:d>
                    <m:r>
                      <a:rPr lang="en-US" sz="2000" b="0" i="1" smtClean="0">
                        <a:solidFill>
                          <a:schemeClr val="bg1"/>
                        </a:solidFill>
                        <a:latin typeface="Cambria Math" panose="02040503050406030204" pitchFamily="18" charset="0"/>
                      </a:rPr>
                      <m:t>→</m:t>
                    </m:r>
                  </m:oMath>
                </a14:m>
                <a:r>
                  <a:rPr lang="en-US" sz="2000" dirty="0">
                    <a:solidFill>
                      <a:schemeClr val="bg1"/>
                    </a:solidFill>
                  </a:rPr>
                  <a:t> Beta(a , b) with support in (0, 1). In particular when a = b = 1 then </a:t>
                </a:r>
                <a14:m>
                  <m:oMath xmlns:m="http://schemas.openxmlformats.org/officeDocument/2006/math">
                    <m:sSup>
                      <m:sSupPr>
                        <m:ctrlPr>
                          <a:rPr lang="en-US" sz="2000" b="0" i="1" smtClean="0">
                            <a:solidFill>
                              <a:schemeClr val="bg1"/>
                            </a:solidFill>
                            <a:latin typeface="Cambria Math" panose="02040503050406030204" pitchFamily="18" charset="0"/>
                          </a:rPr>
                        </m:ctrlPr>
                      </m:sSupPr>
                      <m:e>
                        <m:r>
                          <a:rPr lang="en-US" sz="2000" b="0" i="1" smtClean="0">
                            <a:solidFill>
                              <a:schemeClr val="bg1"/>
                            </a:solidFill>
                            <a:latin typeface="Cambria Math" panose="02040503050406030204" pitchFamily="18" charset="0"/>
                          </a:rPr>
                          <m:t>𝑋</m:t>
                        </m:r>
                      </m:e>
                      <m:sup>
                        <m:r>
                          <a:rPr lang="en-US" sz="2000" b="0" i="1" smtClean="0">
                            <a:solidFill>
                              <a:schemeClr val="bg1"/>
                            </a:solidFill>
                            <a:latin typeface="Cambria Math" panose="02040503050406030204" pitchFamily="18" charset="0"/>
                          </a:rPr>
                          <m:t>1</m:t>
                        </m:r>
                      </m:sup>
                    </m:sSup>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𝜔</m:t>
                        </m:r>
                      </m:e>
                    </m:d>
                  </m:oMath>
                </a14:m>
                <a:r>
                  <a:rPr lang="en-US" sz="2000" dirty="0">
                    <a:solidFill>
                      <a:schemeClr val="bg1"/>
                    </a:solidFill>
                  </a:rPr>
                  <a:t> has U(0, 1) distribution.</a:t>
                </a:r>
                <a:endParaRPr lang="en-IN" sz="2000" dirty="0">
                  <a:solidFill>
                    <a:schemeClr val="bg1"/>
                  </a:solidFill>
                </a:endParaRPr>
              </a:p>
            </p:txBody>
          </p:sp>
        </mc:Choice>
        <mc:Fallback xmlns="">
          <p:sp>
            <p:nvSpPr>
              <p:cNvPr id="14" name="TextBox 13">
                <a:extLst>
                  <a:ext uri="{FF2B5EF4-FFF2-40B4-BE49-F238E27FC236}">
                    <a16:creationId xmlns:a16="http://schemas.microsoft.com/office/drawing/2014/main" id="{F7BC6AAB-F1D3-FAE9-FA70-3F702221C430}"/>
                  </a:ext>
                </a:extLst>
              </p:cNvPr>
              <p:cNvSpPr txBox="1">
                <a:spLocks noRot="1" noChangeAspect="1" noMove="1" noResize="1" noEditPoints="1" noAdjustHandles="1" noChangeArrowheads="1" noChangeShapeType="1" noTextEdit="1"/>
              </p:cNvSpPr>
              <p:nvPr/>
            </p:nvSpPr>
            <p:spPr>
              <a:xfrm>
                <a:off x="578498" y="1586204"/>
                <a:ext cx="10926147" cy="4111382"/>
              </a:xfrm>
              <a:prstGeom prst="rect">
                <a:avLst/>
              </a:prstGeom>
              <a:blipFill>
                <a:blip r:embed="rId2"/>
                <a:stretch>
                  <a:fillRect l="-502" t="-593" b="-2074"/>
                </a:stretch>
              </a:blipFill>
            </p:spPr>
            <p:txBody>
              <a:bodyPr/>
              <a:lstStyle/>
              <a:p>
                <a:r>
                  <a:rPr lang="en-IN">
                    <a:noFill/>
                  </a:rPr>
                  <a:t> </a:t>
                </a:r>
              </a:p>
            </p:txBody>
          </p:sp>
        </mc:Fallback>
      </mc:AlternateContent>
    </p:spTree>
    <p:extLst>
      <p:ext uri="{BB962C8B-B14F-4D97-AF65-F5344CB8AC3E}">
        <p14:creationId xmlns:p14="http://schemas.microsoft.com/office/powerpoint/2010/main" val="389213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42AD38B6-FDC7-2AF0-42AE-EA40D52ECC5E}"/>
                  </a:ext>
                </a:extLst>
              </p:cNvPr>
              <p:cNvSpPr>
                <a:spLocks noGrp="1"/>
              </p:cNvSpPr>
              <p:nvPr>
                <p:ph type="body" idx="1"/>
              </p:nvPr>
            </p:nvSpPr>
            <p:spPr>
              <a:xfrm>
                <a:off x="1063690" y="1698171"/>
                <a:ext cx="9274628" cy="4525347"/>
              </a:xfrm>
            </p:spPr>
            <p:txBody>
              <a:bodyPr>
                <a:noAutofit/>
              </a:bodyPr>
              <a:lstStyle/>
              <a:p>
                <a:pPr marL="342900" indent="-342900">
                  <a:buClr>
                    <a:schemeClr val="bg1"/>
                  </a:buClr>
                  <a:buFont typeface="Wingdings" panose="05000000000000000000" pitchFamily="2" charset="2"/>
                  <a:buChar char="q"/>
                </a:pPr>
                <a:r>
                  <a:rPr lang="en-US" sz="2000" dirty="0">
                    <a:solidFill>
                      <a:schemeClr val="bg1"/>
                    </a:solidFill>
                  </a:rPr>
                  <a:t>For any </a:t>
                </a:r>
                <a14:m>
                  <m:oMath xmlns:m="http://schemas.openxmlformats.org/officeDocument/2006/math">
                    <m:r>
                      <a:rPr lang="en-US" sz="2000" b="0" i="1" smtClean="0">
                        <a:solidFill>
                          <a:schemeClr val="bg1"/>
                        </a:solidFill>
                        <a:latin typeface="Cambria Math" panose="02040503050406030204" pitchFamily="18" charset="0"/>
                      </a:rPr>
                      <m:t>𝑙</m:t>
                    </m:r>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𝑘</m:t>
                    </m:r>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𝑁</m:t>
                    </m:r>
                  </m:oMath>
                </a14:m>
                <a:r>
                  <a:rPr lang="en-IN" sz="2000" dirty="0">
                    <a:solidFill>
                      <a:schemeClr val="bg1"/>
                    </a:solidFill>
                  </a:rPr>
                  <a:t> then the following theorem holds.</a:t>
                </a:r>
              </a:p>
              <a:p>
                <a:pPr marL="342900" indent="-342900">
                  <a:buClr>
                    <a:schemeClr val="bg1"/>
                  </a:buClr>
                  <a:buFont typeface="Wingdings" panose="05000000000000000000" pitchFamily="2" charset="2"/>
                  <a:buChar char="q"/>
                </a:pPr>
                <a:r>
                  <a:rPr lang="en-IN" sz="2000" dirty="0">
                    <a:solidFill>
                      <a:schemeClr val="bg1"/>
                    </a:solidFill>
                  </a:rPr>
                  <a:t>Theorem : </a:t>
                </a:r>
                <a:r>
                  <a:rPr lang="en-US" sz="2000" dirty="0">
                    <a:solidFill>
                      <a:schemeClr val="bg1"/>
                    </a:solidFill>
                  </a:rPr>
                  <a:t>Suppose we have </a:t>
                </a:r>
                <a14:m>
                  <m:oMath xmlns:m="http://schemas.openxmlformats.org/officeDocument/2006/math">
                    <m:r>
                      <a:rPr lang="en-US" sz="2000" b="0" i="1" smtClean="0">
                        <a:solidFill>
                          <a:schemeClr val="bg1"/>
                        </a:solidFill>
                        <a:latin typeface="Cambria Math" panose="02040503050406030204" pitchFamily="18" charset="0"/>
                      </a:rPr>
                      <m:t>𝑙</m:t>
                    </m:r>
                  </m:oMath>
                </a14:m>
                <a:r>
                  <a:rPr lang="en-US" sz="2000" dirty="0">
                    <a:solidFill>
                      <a:schemeClr val="bg1"/>
                    </a:solidFill>
                  </a:rPr>
                  <a:t> communities and </a:t>
                </a:r>
                <a14:m>
                  <m:oMath xmlns:m="http://schemas.openxmlformats.org/officeDocument/2006/math">
                    <m:r>
                      <a:rPr lang="en-US" sz="2000" b="0" i="1" smtClean="0">
                        <a:solidFill>
                          <a:schemeClr val="bg1"/>
                        </a:solidFill>
                        <a:latin typeface="Cambria Math" panose="02040503050406030204" pitchFamily="18" charset="0"/>
                      </a:rPr>
                      <m:t>𝑘</m:t>
                    </m:r>
                  </m:oMath>
                </a14:m>
                <a:r>
                  <a:rPr lang="en-US" sz="2000" dirty="0">
                    <a:solidFill>
                      <a:schemeClr val="bg1"/>
                    </a:solidFill>
                  </a:rPr>
                  <a:t> types where </a:t>
                </a:r>
                <a14:m>
                  <m:oMath xmlns:m="http://schemas.openxmlformats.org/officeDocument/2006/math">
                    <m:r>
                      <a:rPr lang="en-US" sz="2000" b="0" i="1" smtClean="0">
                        <a:solidFill>
                          <a:schemeClr val="bg1"/>
                        </a:solidFill>
                        <a:latin typeface="Cambria Math" panose="02040503050406030204" pitchFamily="18" charset="0"/>
                      </a:rPr>
                      <m:t>𝑙</m:t>
                    </m:r>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𝑘</m:t>
                    </m:r>
                  </m:oMath>
                </a14:m>
                <a:r>
                  <a:rPr lang="en-US" sz="2000" dirty="0">
                    <a:solidFill>
                      <a:schemeClr val="bg1"/>
                    </a:solidFill>
                  </a:rPr>
                  <a:t>. In </a:t>
                </a:r>
                <a14:m>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𝑋</m:t>
                        </m:r>
                      </m:e>
                      <m:sub>
                        <m:r>
                          <a:rPr lang="en-US" sz="2000" b="0" i="1" smtClean="0">
                            <a:solidFill>
                              <a:schemeClr val="bg1"/>
                            </a:solidFill>
                            <a:latin typeface="Cambria Math" panose="02040503050406030204" pitchFamily="18" charset="0"/>
                          </a:rPr>
                          <m:t>0</m:t>
                        </m:r>
                      </m:sub>
                    </m:sSub>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𝜔</m:t>
                        </m:r>
                      </m:e>
                    </m:d>
                  </m:oMath>
                </a14:m>
                <a:r>
                  <a:rPr lang="en-US" sz="2000" dirty="0">
                    <a:solidFill>
                      <a:schemeClr val="bg1"/>
                    </a:solidFill>
                  </a:rPr>
                  <a:t> we have each and every component strictly positive. We have </a:t>
                </a:r>
                <a14:m>
                  <m:oMath xmlns:m="http://schemas.openxmlformats.org/officeDocument/2006/math">
                    <m:r>
                      <a:rPr lang="en-US" sz="2000" b="0" i="1" smtClean="0">
                        <a:solidFill>
                          <a:schemeClr val="bg1"/>
                        </a:solidFill>
                        <a:latin typeface="Cambria Math" panose="02040503050406030204" pitchFamily="18" charset="0"/>
                      </a:rPr>
                      <m:t>𝑃</m:t>
                    </m:r>
                    <m:d>
                      <m:dPr>
                        <m:begChr m:val="["/>
                        <m:endChr m:val="]"/>
                        <m:ctrlPr>
                          <a:rPr lang="en-US" sz="2000" b="0" i="1" smtClean="0">
                            <a:solidFill>
                              <a:schemeClr val="bg1"/>
                            </a:solidFill>
                            <a:latin typeface="Cambria Math" panose="02040503050406030204" pitchFamily="18" charset="0"/>
                          </a:rPr>
                        </m:ctrlPr>
                      </m:dPr>
                      <m:e>
                        <m:sSup>
                          <m:sSupPr>
                            <m:ctrlPr>
                              <a:rPr lang="en-US" sz="2000" b="0" i="1" smtClean="0">
                                <a:solidFill>
                                  <a:schemeClr val="bg1"/>
                                </a:solidFill>
                                <a:latin typeface="Cambria Math" panose="02040503050406030204" pitchFamily="18" charset="0"/>
                              </a:rPr>
                            </m:ctrlPr>
                          </m:sSupPr>
                          <m:e>
                            <m:r>
                              <a:rPr lang="en-US" sz="2000" b="0" i="1" smtClean="0">
                                <a:solidFill>
                                  <a:schemeClr val="bg1"/>
                                </a:solidFill>
                                <a:latin typeface="Cambria Math" panose="02040503050406030204" pitchFamily="18" charset="0"/>
                              </a:rPr>
                              <m:t>𝜃</m:t>
                            </m:r>
                          </m:e>
                          <m:sup>
                            <m:d>
                              <m:dPr>
                                <m:begChr m:val="{"/>
                                <m:endChr m:val="}"/>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𝑡</m:t>
                                </m:r>
                                <m:r>
                                  <a:rPr lang="en-US" sz="2000" b="0" i="1" smtClean="0">
                                    <a:solidFill>
                                      <a:schemeClr val="bg1"/>
                                    </a:solidFill>
                                    <a:latin typeface="Cambria Math" panose="02040503050406030204" pitchFamily="18" charset="0"/>
                                  </a:rPr>
                                  <m:t>+1</m:t>
                                </m:r>
                              </m:e>
                            </m:d>
                          </m:sup>
                        </m:sSup>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𝜃</m:t>
                            </m:r>
                          </m:e>
                          <m:sub>
                            <m:r>
                              <a:rPr lang="en-US" sz="2000" b="0" i="1" smtClean="0">
                                <a:solidFill>
                                  <a:schemeClr val="bg1"/>
                                </a:solidFill>
                                <a:latin typeface="Cambria Math" panose="02040503050406030204" pitchFamily="18" charset="0"/>
                              </a:rPr>
                              <m:t>𝑖</m:t>
                            </m:r>
                          </m:sub>
                        </m:sSub>
                      </m:e>
                    </m:d>
                    <m:r>
                      <a:rPr lang="en-US" sz="2000" b="0" i="1" smtClean="0">
                        <a:solidFill>
                          <a:schemeClr val="bg1"/>
                        </a:solidFill>
                        <a:latin typeface="Cambria Math" panose="02040503050406030204" pitchFamily="18" charset="0"/>
                      </a:rPr>
                      <m:t>=</m:t>
                    </m:r>
                    <m:sSubSup>
                      <m:sSubSupPr>
                        <m:ctrlPr>
                          <a:rPr lang="en-US" sz="2000" b="0" i="1" smtClean="0">
                            <a:solidFill>
                              <a:schemeClr val="bg1"/>
                            </a:solidFill>
                            <a:latin typeface="Cambria Math" panose="02040503050406030204" pitchFamily="18" charset="0"/>
                          </a:rPr>
                        </m:ctrlPr>
                      </m:sSubSupPr>
                      <m:e>
                        <m:r>
                          <a:rPr lang="en-US" sz="2000" b="0" i="1" smtClean="0">
                            <a:solidFill>
                              <a:schemeClr val="bg1"/>
                            </a:solidFill>
                            <a:latin typeface="Cambria Math" panose="02040503050406030204" pitchFamily="18" charset="0"/>
                          </a:rPr>
                          <m:t>𝑋</m:t>
                        </m:r>
                      </m:e>
                      <m:sub>
                        <m:r>
                          <a:rPr lang="en-US" sz="2000" b="0" i="1" smtClean="0">
                            <a:solidFill>
                              <a:schemeClr val="bg1"/>
                            </a:solidFill>
                            <a:latin typeface="Cambria Math" panose="02040503050406030204" pitchFamily="18" charset="0"/>
                          </a:rPr>
                          <m:t>𝑡</m:t>
                        </m:r>
                      </m:sub>
                      <m:sup>
                        <m:r>
                          <a:rPr lang="en-US" sz="2000" b="0" i="1" smtClean="0">
                            <a:solidFill>
                              <a:schemeClr val="bg1"/>
                            </a:solidFill>
                            <a:latin typeface="Cambria Math" panose="02040503050406030204" pitchFamily="18" charset="0"/>
                          </a:rPr>
                          <m:t>𝑖</m:t>
                        </m:r>
                      </m:sup>
                    </m:sSubSup>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𝜔</m:t>
                        </m:r>
                      </m:e>
                    </m:d>
                  </m:oMath>
                </a14:m>
                <a:r>
                  <a:rPr lang="en-US" sz="2000" dirty="0">
                    <a:solidFill>
                      <a:schemeClr val="bg1"/>
                    </a:solidFill>
                  </a:rPr>
                  <a:t> and </a:t>
                </a:r>
                <a14:m>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𝜌</m:t>
                        </m:r>
                      </m:e>
                      <m:sub>
                        <m:r>
                          <a:rPr lang="en-US" sz="2000" b="0" i="1" smtClean="0">
                            <a:solidFill>
                              <a:schemeClr val="bg1"/>
                            </a:solidFill>
                            <a:latin typeface="Cambria Math" panose="02040503050406030204" pitchFamily="18" charset="0"/>
                          </a:rPr>
                          <m:t>𝑖𝑖</m:t>
                        </m:r>
                      </m:sub>
                    </m:sSub>
                    <m:r>
                      <a:rPr lang="en-US" sz="2000" b="0" i="1" smtClean="0">
                        <a:solidFill>
                          <a:schemeClr val="bg1"/>
                        </a:solidFill>
                        <a:latin typeface="Cambria Math" panose="02040503050406030204" pitchFamily="18" charset="0"/>
                      </a:rPr>
                      <m:t>=1</m:t>
                    </m:r>
                  </m:oMath>
                </a14:m>
                <a:r>
                  <a:rPr lang="en-US" sz="2000" dirty="0">
                    <a:solidFill>
                      <a:schemeClr val="bg1"/>
                    </a:solidFill>
                  </a:rPr>
                  <a:t> for all </a:t>
                </a:r>
                <a:r>
                  <a:rPr lang="en-US" sz="2000" dirty="0" err="1">
                    <a:solidFill>
                      <a:schemeClr val="bg1"/>
                    </a:solidFill>
                  </a:rPr>
                  <a:t>i</a:t>
                </a:r>
                <a:r>
                  <a:rPr lang="en-US" sz="2000" dirty="0">
                    <a:solidFill>
                      <a:schemeClr val="bg1"/>
                    </a:solidFill>
                  </a:rPr>
                  <a:t> = 1(l)l and 0 otherwise. Under this community evolution scheme the following almost sure convergence holds.</a:t>
                </a:r>
              </a:p>
              <a:p>
                <a:endParaRPr lang="en-US" sz="2000" dirty="0">
                  <a:solidFill>
                    <a:schemeClr val="bg1"/>
                  </a:solidFill>
                </a:endParaRPr>
              </a:p>
              <a:p>
                <a:pPr/>
                <a14:m>
                  <m:oMathPara xmlns:m="http://schemas.openxmlformats.org/officeDocument/2006/math">
                    <m:oMathParaPr>
                      <m:jc m:val="centerGroup"/>
                    </m:oMathParaPr>
                    <m:oMath xmlns:m="http://schemas.openxmlformats.org/officeDocument/2006/math">
                      <m:sSub>
                        <m:sSubPr>
                          <m:ctrlPr>
                            <a:rPr lang="en-IN" sz="2000" i="1" smtClean="0">
                              <a:solidFill>
                                <a:schemeClr val="bg1"/>
                              </a:solidFill>
                              <a:latin typeface="Cambria Math" panose="02040503050406030204" pitchFamily="18" charset="0"/>
                            </a:rPr>
                          </m:ctrlPr>
                        </m:sSubPr>
                        <m:e>
                          <m:r>
                            <a:rPr lang="en-IN" sz="2000" i="1">
                              <a:solidFill>
                                <a:schemeClr val="bg1"/>
                              </a:solidFill>
                              <a:latin typeface="Cambria Math" panose="02040503050406030204" pitchFamily="18" charset="0"/>
                            </a:rPr>
                            <m:t>𝑋</m:t>
                          </m:r>
                        </m:e>
                        <m:sub>
                          <m:r>
                            <a:rPr lang="en-IN" sz="2000" i="1">
                              <a:solidFill>
                                <a:schemeClr val="bg1"/>
                              </a:solidFill>
                              <a:latin typeface="Cambria Math" panose="02040503050406030204" pitchFamily="18" charset="0"/>
                            </a:rPr>
                            <m:t>𝑡</m:t>
                          </m:r>
                        </m:sub>
                      </m:sSub>
                      <m:d>
                        <m:dPr>
                          <m:ctrlPr>
                            <a:rPr lang="en-IN" sz="2000" i="1">
                              <a:solidFill>
                                <a:schemeClr val="bg1"/>
                              </a:solidFill>
                              <a:latin typeface="Cambria Math" panose="02040503050406030204" pitchFamily="18" charset="0"/>
                            </a:rPr>
                          </m:ctrlPr>
                        </m:dPr>
                        <m:e>
                          <m:r>
                            <a:rPr lang="en-IN" sz="2000" i="1">
                              <a:solidFill>
                                <a:schemeClr val="bg1"/>
                              </a:solidFill>
                              <a:latin typeface="Cambria Math" panose="02040503050406030204" pitchFamily="18" charset="0"/>
                            </a:rPr>
                            <m:t>𝜔</m:t>
                          </m:r>
                        </m:e>
                      </m:d>
                      <m:r>
                        <a:rPr lang="en-IN" sz="2000" i="1">
                          <a:solidFill>
                            <a:schemeClr val="bg1"/>
                          </a:solidFill>
                          <a:latin typeface="Cambria Math" panose="02040503050406030204" pitchFamily="18" charset="0"/>
                        </a:rPr>
                        <m:t>→</m:t>
                      </m:r>
                      <m:d>
                        <m:dPr>
                          <m:ctrlPr>
                            <a:rPr lang="en-IN" sz="2000" i="1">
                              <a:solidFill>
                                <a:schemeClr val="bg1"/>
                              </a:solidFill>
                              <a:latin typeface="Cambria Math" panose="02040503050406030204" pitchFamily="18" charset="0"/>
                            </a:rPr>
                          </m:ctrlPr>
                        </m:dPr>
                        <m:e>
                          <m:sSub>
                            <m:sSubPr>
                              <m:ctrlPr>
                                <a:rPr lang="en-IN" sz="2000" i="1">
                                  <a:solidFill>
                                    <a:schemeClr val="bg1"/>
                                  </a:solidFill>
                                  <a:latin typeface="Cambria Math" panose="02040503050406030204" pitchFamily="18" charset="0"/>
                                </a:rPr>
                              </m:ctrlPr>
                            </m:sSubPr>
                            <m:e>
                              <m:r>
                                <a:rPr lang="en-IN" sz="2000" i="1">
                                  <a:solidFill>
                                    <a:schemeClr val="bg1"/>
                                  </a:solidFill>
                                  <a:latin typeface="Cambria Math" panose="02040503050406030204" pitchFamily="18" charset="0"/>
                                </a:rPr>
                                <m:t>𝑆</m:t>
                              </m:r>
                            </m:e>
                            <m:sub>
                              <m:r>
                                <a:rPr lang="en-IN" sz="2000" i="1">
                                  <a:solidFill>
                                    <a:schemeClr val="bg1"/>
                                  </a:solidFill>
                                  <a:latin typeface="Cambria Math" panose="02040503050406030204" pitchFamily="18" charset="0"/>
                                </a:rPr>
                                <m:t>1</m:t>
                              </m:r>
                            </m:sub>
                          </m:sSub>
                          <m:r>
                            <a:rPr lang="en-IN" sz="2000" i="1">
                              <a:solidFill>
                                <a:schemeClr val="bg1"/>
                              </a:solidFill>
                              <a:latin typeface="Cambria Math" panose="02040503050406030204" pitchFamily="18" charset="0"/>
                            </a:rPr>
                            <m:t>,</m:t>
                          </m:r>
                          <m:sSub>
                            <m:sSubPr>
                              <m:ctrlPr>
                                <a:rPr lang="en-IN" sz="2000" i="1">
                                  <a:solidFill>
                                    <a:schemeClr val="bg1"/>
                                  </a:solidFill>
                                  <a:latin typeface="Cambria Math" panose="02040503050406030204" pitchFamily="18" charset="0"/>
                                </a:rPr>
                              </m:ctrlPr>
                            </m:sSubPr>
                            <m:e>
                              <m:r>
                                <a:rPr lang="en-IN" sz="2000" i="1">
                                  <a:solidFill>
                                    <a:schemeClr val="bg1"/>
                                  </a:solidFill>
                                  <a:latin typeface="Cambria Math" panose="02040503050406030204" pitchFamily="18" charset="0"/>
                                </a:rPr>
                                <m:t>𝑆</m:t>
                              </m:r>
                            </m:e>
                            <m:sub>
                              <m:r>
                                <a:rPr lang="en-IN" sz="2000" i="1">
                                  <a:solidFill>
                                    <a:schemeClr val="bg1"/>
                                  </a:solidFill>
                                  <a:latin typeface="Cambria Math" panose="02040503050406030204" pitchFamily="18" charset="0"/>
                                </a:rPr>
                                <m:t>2</m:t>
                              </m:r>
                            </m:sub>
                          </m:sSub>
                          <m:r>
                            <a:rPr lang="en-IN" sz="2000" i="1">
                              <a:solidFill>
                                <a:schemeClr val="bg1"/>
                              </a:solidFill>
                              <a:latin typeface="Cambria Math" panose="02040503050406030204" pitchFamily="18" charset="0"/>
                            </a:rPr>
                            <m:t>,⋯,</m:t>
                          </m:r>
                          <m:sSub>
                            <m:sSubPr>
                              <m:ctrlPr>
                                <a:rPr lang="en-IN" sz="2000" i="1">
                                  <a:solidFill>
                                    <a:schemeClr val="bg1"/>
                                  </a:solidFill>
                                  <a:latin typeface="Cambria Math" panose="02040503050406030204" pitchFamily="18" charset="0"/>
                                </a:rPr>
                              </m:ctrlPr>
                            </m:sSubPr>
                            <m:e>
                              <m:r>
                                <a:rPr lang="en-IN" sz="2000" i="1">
                                  <a:solidFill>
                                    <a:schemeClr val="bg1"/>
                                  </a:solidFill>
                                  <a:latin typeface="Cambria Math" panose="02040503050406030204" pitchFamily="18" charset="0"/>
                                </a:rPr>
                                <m:t>𝑆</m:t>
                              </m:r>
                            </m:e>
                            <m:sub>
                              <m:r>
                                <a:rPr lang="en-IN" sz="2000" i="1">
                                  <a:solidFill>
                                    <a:schemeClr val="bg1"/>
                                  </a:solidFill>
                                  <a:latin typeface="Cambria Math" panose="02040503050406030204" pitchFamily="18" charset="0"/>
                                </a:rPr>
                                <m:t>𝑙</m:t>
                              </m:r>
                              <m:r>
                                <a:rPr lang="en-IN" sz="2000" i="1">
                                  <a:solidFill>
                                    <a:schemeClr val="bg1"/>
                                  </a:solidFill>
                                  <a:latin typeface="Cambria Math" panose="02040503050406030204" pitchFamily="18" charset="0"/>
                                </a:rPr>
                                <m:t>−1</m:t>
                              </m:r>
                            </m:sub>
                          </m:sSub>
                          <m:r>
                            <a:rPr lang="en-IN" sz="2000" i="1">
                              <a:solidFill>
                                <a:schemeClr val="bg1"/>
                              </a:solidFill>
                              <a:latin typeface="Cambria Math" panose="02040503050406030204" pitchFamily="18" charset="0"/>
                            </a:rPr>
                            <m:t>,</m:t>
                          </m:r>
                          <m:sSub>
                            <m:sSubPr>
                              <m:ctrlPr>
                                <a:rPr lang="en-IN" sz="2000" i="1">
                                  <a:solidFill>
                                    <a:schemeClr val="bg1"/>
                                  </a:solidFill>
                                  <a:latin typeface="Cambria Math" panose="02040503050406030204" pitchFamily="18" charset="0"/>
                                </a:rPr>
                              </m:ctrlPr>
                            </m:sSubPr>
                            <m:e>
                              <m:r>
                                <a:rPr lang="en-IN" sz="2000" i="1">
                                  <a:solidFill>
                                    <a:schemeClr val="bg1"/>
                                  </a:solidFill>
                                  <a:latin typeface="Cambria Math" panose="02040503050406030204" pitchFamily="18" charset="0"/>
                                </a:rPr>
                                <m:t>𝑆</m:t>
                              </m:r>
                            </m:e>
                            <m:sub>
                              <m:r>
                                <a:rPr lang="en-IN" sz="2000" i="1">
                                  <a:solidFill>
                                    <a:schemeClr val="bg1"/>
                                  </a:solidFill>
                                  <a:latin typeface="Cambria Math" panose="02040503050406030204" pitchFamily="18" charset="0"/>
                                </a:rPr>
                                <m:t>𝑙</m:t>
                              </m:r>
                            </m:sub>
                          </m:sSub>
                        </m:e>
                      </m:d>
                    </m:oMath>
                  </m:oMathPara>
                </a14:m>
                <a:endParaRPr lang="en-IN" sz="2000" dirty="0">
                  <a:solidFill>
                    <a:schemeClr val="bg1"/>
                  </a:solidFill>
                </a:endParaRPr>
              </a:p>
              <a:p>
                <a:endParaRPr lang="en-IN" sz="2000" dirty="0">
                  <a:solidFill>
                    <a:schemeClr val="bg1"/>
                  </a:solidFill>
                </a:endParaRPr>
              </a:p>
              <a:p>
                <a:r>
                  <a:rPr lang="en-US" sz="2000" dirty="0">
                    <a:solidFill>
                      <a:schemeClr val="bg1"/>
                    </a:solidFill>
                  </a:rPr>
                  <a:t>  </a:t>
                </a:r>
                <a14:m>
                  <m:oMath xmlns:m="http://schemas.openxmlformats.org/officeDocument/2006/math">
                    <m:d>
                      <m:dPr>
                        <m:ctrlPr>
                          <a:rPr lang="en-US" sz="2000" b="0" i="1" smtClean="0">
                            <a:solidFill>
                              <a:schemeClr val="bg1"/>
                            </a:solidFill>
                            <a:latin typeface="Cambria Math" panose="02040503050406030204" pitchFamily="18" charset="0"/>
                          </a:rPr>
                        </m:ctrlPr>
                      </m:dPr>
                      <m:e>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𝑆</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𝑆</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𝑆</m:t>
                            </m:r>
                          </m:e>
                          <m:sub>
                            <m:r>
                              <a:rPr lang="en-US" sz="2000" b="0" i="1" smtClean="0">
                                <a:solidFill>
                                  <a:schemeClr val="bg1"/>
                                </a:solidFill>
                                <a:latin typeface="Cambria Math" panose="02040503050406030204" pitchFamily="18" charset="0"/>
                              </a:rPr>
                              <m:t>𝑙</m:t>
                            </m:r>
                          </m:sub>
                        </m:sSub>
                      </m:e>
                    </m:d>
                  </m:oMath>
                </a14:m>
                <a:r>
                  <a:rPr lang="en-US" sz="2000" dirty="0">
                    <a:solidFill>
                      <a:schemeClr val="bg1"/>
                    </a:solidFill>
                  </a:rPr>
                  <a:t> is random vector with Dirichlet density</a:t>
                </a:r>
                <a:endParaRPr lang="en-IN" sz="2000" dirty="0">
                  <a:solidFill>
                    <a:schemeClr val="bg1"/>
                  </a:solidFill>
                </a:endParaRPr>
              </a:p>
              <a:p>
                <a:endParaRPr lang="en-IN" sz="2000" dirty="0">
                  <a:solidFill>
                    <a:schemeClr val="bg1"/>
                  </a:solidFill>
                </a:endParaRPr>
              </a:p>
              <a:p>
                <a:pPr/>
                <a14:m>
                  <m:oMathPara xmlns:m="http://schemas.openxmlformats.org/officeDocument/2006/math">
                    <m:oMathParaPr>
                      <m:jc m:val="centerGroup"/>
                    </m:oMathParaPr>
                    <m:oMath xmlns:m="http://schemas.openxmlformats.org/officeDocument/2006/math">
                      <m:r>
                        <m:rPr>
                          <m:sty m:val="p"/>
                        </m:rPr>
                        <a:rPr lang="en-IN" sz="2000" i="0">
                          <a:solidFill>
                            <a:schemeClr val="bg1"/>
                          </a:solidFill>
                          <a:latin typeface="Cambria Math" panose="02040503050406030204" pitchFamily="18" charset="0"/>
                        </a:rPr>
                        <m:t>Γ</m:t>
                      </m:r>
                      <m:d>
                        <m:dPr>
                          <m:ctrlPr>
                            <a:rPr lang="en-IN" sz="2000" i="1">
                              <a:solidFill>
                                <a:schemeClr val="bg1"/>
                              </a:solidFill>
                              <a:latin typeface="Cambria Math" panose="02040503050406030204" pitchFamily="18" charset="0"/>
                            </a:rPr>
                          </m:ctrlPr>
                        </m:dPr>
                        <m:e>
                          <m:nary>
                            <m:naryPr>
                              <m:chr m:val="∑"/>
                              <m:ctrlPr>
                                <a:rPr lang="en-IN" sz="2000" i="1">
                                  <a:solidFill>
                                    <a:schemeClr val="bg1"/>
                                  </a:solidFill>
                                  <a:latin typeface="Cambria Math" panose="02040503050406030204" pitchFamily="18" charset="0"/>
                                </a:rPr>
                              </m:ctrlPr>
                            </m:naryPr>
                            <m:sub>
                              <m:r>
                                <a:rPr lang="en-IN" sz="2000" i="1">
                                  <a:solidFill>
                                    <a:schemeClr val="bg1"/>
                                  </a:solidFill>
                                  <a:latin typeface="Cambria Math" panose="02040503050406030204" pitchFamily="18" charset="0"/>
                                </a:rPr>
                                <m:t>𝑗</m:t>
                              </m:r>
                              <m:r>
                                <a:rPr lang="en-IN" sz="2000" i="1">
                                  <a:solidFill>
                                    <a:schemeClr val="bg1"/>
                                  </a:solidFill>
                                  <a:latin typeface="Cambria Math" panose="02040503050406030204" pitchFamily="18" charset="0"/>
                                </a:rPr>
                                <m:t>=1</m:t>
                              </m:r>
                            </m:sub>
                            <m:sup>
                              <m:r>
                                <a:rPr lang="en-IN" sz="2000" i="1">
                                  <a:solidFill>
                                    <a:schemeClr val="bg1"/>
                                  </a:solidFill>
                                  <a:latin typeface="Cambria Math" panose="02040503050406030204" pitchFamily="18" charset="0"/>
                                </a:rPr>
                                <m:t>𝑙</m:t>
                              </m:r>
                            </m:sup>
                            <m:e>
                              <m:sSubSup>
                                <m:sSubSupPr>
                                  <m:ctrlPr>
                                    <a:rPr lang="en-IN" sz="2000" i="1">
                                      <a:solidFill>
                                        <a:schemeClr val="bg1"/>
                                      </a:solidFill>
                                      <a:latin typeface="Cambria Math" panose="02040503050406030204" pitchFamily="18" charset="0"/>
                                    </a:rPr>
                                  </m:ctrlPr>
                                </m:sSubSupPr>
                                <m:e>
                                  <m:r>
                                    <a:rPr lang="en-IN" sz="2000" i="1">
                                      <a:solidFill>
                                        <a:schemeClr val="bg1"/>
                                      </a:solidFill>
                                      <a:latin typeface="Cambria Math" panose="02040503050406030204" pitchFamily="18" charset="0"/>
                                    </a:rPr>
                                    <m:t>𝑌</m:t>
                                  </m:r>
                                </m:e>
                                <m:sub>
                                  <m:r>
                                    <a:rPr lang="en-IN" sz="2000" i="1">
                                      <a:solidFill>
                                        <a:schemeClr val="bg1"/>
                                      </a:solidFill>
                                      <a:latin typeface="Cambria Math" panose="02040503050406030204" pitchFamily="18" charset="0"/>
                                    </a:rPr>
                                    <m:t>0</m:t>
                                  </m:r>
                                </m:sub>
                                <m:sup>
                                  <m:r>
                                    <a:rPr lang="en-IN" sz="2000" i="1">
                                      <a:solidFill>
                                        <a:schemeClr val="bg1"/>
                                      </a:solidFill>
                                      <a:latin typeface="Cambria Math" panose="02040503050406030204" pitchFamily="18" charset="0"/>
                                    </a:rPr>
                                    <m:t>𝑗</m:t>
                                  </m:r>
                                </m:sup>
                              </m:sSubSup>
                              <m:d>
                                <m:dPr>
                                  <m:ctrlPr>
                                    <a:rPr lang="en-IN" sz="2000" i="1">
                                      <a:solidFill>
                                        <a:schemeClr val="bg1"/>
                                      </a:solidFill>
                                      <a:latin typeface="Cambria Math" panose="02040503050406030204" pitchFamily="18" charset="0"/>
                                    </a:rPr>
                                  </m:ctrlPr>
                                </m:dPr>
                                <m:e>
                                  <m:r>
                                    <a:rPr lang="en-IN" sz="2000" i="1">
                                      <a:solidFill>
                                        <a:schemeClr val="bg1"/>
                                      </a:solidFill>
                                      <a:latin typeface="Cambria Math" panose="02040503050406030204" pitchFamily="18" charset="0"/>
                                    </a:rPr>
                                    <m:t>𝜔</m:t>
                                  </m:r>
                                </m:e>
                              </m:d>
                            </m:e>
                          </m:nary>
                        </m:e>
                      </m:d>
                      <m:nary>
                        <m:naryPr>
                          <m:chr m:val="∏"/>
                          <m:ctrlPr>
                            <a:rPr lang="en-IN" sz="2000" i="1">
                              <a:solidFill>
                                <a:schemeClr val="bg1"/>
                              </a:solidFill>
                              <a:latin typeface="Cambria Math" panose="02040503050406030204" pitchFamily="18" charset="0"/>
                            </a:rPr>
                          </m:ctrlPr>
                        </m:naryPr>
                        <m:sub>
                          <m:r>
                            <a:rPr lang="en-IN" sz="2000" i="1">
                              <a:solidFill>
                                <a:schemeClr val="bg1"/>
                              </a:solidFill>
                              <a:latin typeface="Cambria Math" panose="02040503050406030204" pitchFamily="18" charset="0"/>
                            </a:rPr>
                            <m:t>𝑗</m:t>
                          </m:r>
                          <m:r>
                            <a:rPr lang="en-IN" sz="2000" i="1">
                              <a:solidFill>
                                <a:schemeClr val="bg1"/>
                              </a:solidFill>
                              <a:latin typeface="Cambria Math" panose="02040503050406030204" pitchFamily="18" charset="0"/>
                            </a:rPr>
                            <m:t>=1</m:t>
                          </m:r>
                        </m:sub>
                        <m:sup>
                          <m:r>
                            <a:rPr lang="en-IN" sz="2000" i="1">
                              <a:solidFill>
                                <a:schemeClr val="bg1"/>
                              </a:solidFill>
                              <a:latin typeface="Cambria Math" panose="02040503050406030204" pitchFamily="18" charset="0"/>
                            </a:rPr>
                            <m:t>𝑙</m:t>
                          </m:r>
                        </m:sup>
                        <m:e>
                          <m:f>
                            <m:fPr>
                              <m:ctrlPr>
                                <a:rPr lang="en-IN" sz="2000" i="1">
                                  <a:solidFill>
                                    <a:schemeClr val="bg1"/>
                                  </a:solidFill>
                                  <a:latin typeface="Cambria Math" panose="02040503050406030204" pitchFamily="18" charset="0"/>
                                </a:rPr>
                              </m:ctrlPr>
                            </m:fPr>
                            <m:num>
                              <m:sSubSup>
                                <m:sSubSupPr>
                                  <m:ctrlPr>
                                    <a:rPr lang="en-IN" sz="2000" i="1">
                                      <a:solidFill>
                                        <a:schemeClr val="bg1"/>
                                      </a:solidFill>
                                      <a:latin typeface="Cambria Math" panose="02040503050406030204" pitchFamily="18" charset="0"/>
                                    </a:rPr>
                                  </m:ctrlPr>
                                </m:sSubSupPr>
                                <m:e>
                                  <m:r>
                                    <a:rPr lang="en-IN" sz="2000" i="1">
                                      <a:solidFill>
                                        <a:schemeClr val="bg1"/>
                                      </a:solidFill>
                                      <a:latin typeface="Cambria Math" panose="02040503050406030204" pitchFamily="18" charset="0"/>
                                    </a:rPr>
                                    <m:t>𝑠</m:t>
                                  </m:r>
                                </m:e>
                                <m:sub>
                                  <m:r>
                                    <a:rPr lang="en-IN" sz="2000" i="1">
                                      <a:solidFill>
                                        <a:schemeClr val="bg1"/>
                                      </a:solidFill>
                                      <a:latin typeface="Cambria Math" panose="02040503050406030204" pitchFamily="18" charset="0"/>
                                    </a:rPr>
                                    <m:t>𝑗</m:t>
                                  </m:r>
                                </m:sub>
                                <m:sup>
                                  <m:sSubSup>
                                    <m:sSubSupPr>
                                      <m:ctrlPr>
                                        <a:rPr lang="en-IN" sz="2000" i="1">
                                          <a:solidFill>
                                            <a:schemeClr val="bg1"/>
                                          </a:solidFill>
                                          <a:latin typeface="Cambria Math" panose="02040503050406030204" pitchFamily="18" charset="0"/>
                                        </a:rPr>
                                      </m:ctrlPr>
                                    </m:sSubSupPr>
                                    <m:e>
                                      <m:r>
                                        <a:rPr lang="en-IN" sz="2000" i="1">
                                          <a:solidFill>
                                            <a:schemeClr val="bg1"/>
                                          </a:solidFill>
                                          <a:latin typeface="Cambria Math" panose="02040503050406030204" pitchFamily="18" charset="0"/>
                                        </a:rPr>
                                        <m:t>𝑌</m:t>
                                      </m:r>
                                    </m:e>
                                    <m:sub>
                                      <m:r>
                                        <a:rPr lang="en-IN" sz="2000" i="1">
                                          <a:solidFill>
                                            <a:schemeClr val="bg1"/>
                                          </a:solidFill>
                                          <a:latin typeface="Cambria Math" panose="02040503050406030204" pitchFamily="18" charset="0"/>
                                        </a:rPr>
                                        <m:t>0</m:t>
                                      </m:r>
                                    </m:sub>
                                    <m:sup>
                                      <m:r>
                                        <a:rPr lang="en-IN" sz="2000" i="1">
                                          <a:solidFill>
                                            <a:schemeClr val="bg1"/>
                                          </a:solidFill>
                                          <a:latin typeface="Cambria Math" panose="02040503050406030204" pitchFamily="18" charset="0"/>
                                        </a:rPr>
                                        <m:t>𝑗</m:t>
                                      </m:r>
                                    </m:sup>
                                  </m:sSubSup>
                                  <m:d>
                                    <m:dPr>
                                      <m:ctrlPr>
                                        <a:rPr lang="en-IN" sz="2000" i="1">
                                          <a:solidFill>
                                            <a:schemeClr val="bg1"/>
                                          </a:solidFill>
                                          <a:latin typeface="Cambria Math" panose="02040503050406030204" pitchFamily="18" charset="0"/>
                                        </a:rPr>
                                      </m:ctrlPr>
                                    </m:dPr>
                                    <m:e>
                                      <m:r>
                                        <a:rPr lang="en-IN" sz="2000" i="1">
                                          <a:solidFill>
                                            <a:schemeClr val="bg1"/>
                                          </a:solidFill>
                                          <a:latin typeface="Cambria Math" panose="02040503050406030204" pitchFamily="18" charset="0"/>
                                        </a:rPr>
                                        <m:t>𝜔</m:t>
                                      </m:r>
                                    </m:e>
                                  </m:d>
                                  <m:r>
                                    <a:rPr lang="en-IN" sz="2000" i="1">
                                      <a:solidFill>
                                        <a:schemeClr val="bg1"/>
                                      </a:solidFill>
                                      <a:latin typeface="Cambria Math" panose="02040503050406030204" pitchFamily="18" charset="0"/>
                                    </a:rPr>
                                    <m:t>−1</m:t>
                                  </m:r>
                                </m:sup>
                              </m:sSubSup>
                            </m:num>
                            <m:den>
                              <m:r>
                                <m:rPr>
                                  <m:sty m:val="p"/>
                                </m:rPr>
                                <a:rPr lang="en-IN" sz="2000" i="0">
                                  <a:solidFill>
                                    <a:schemeClr val="bg1"/>
                                  </a:solidFill>
                                  <a:latin typeface="Cambria Math" panose="02040503050406030204" pitchFamily="18" charset="0"/>
                                </a:rPr>
                                <m:t>Γ</m:t>
                              </m:r>
                              <m:d>
                                <m:dPr>
                                  <m:ctrlPr>
                                    <a:rPr lang="en-IN" sz="2000" i="1">
                                      <a:solidFill>
                                        <a:schemeClr val="bg1"/>
                                      </a:solidFill>
                                      <a:latin typeface="Cambria Math" panose="02040503050406030204" pitchFamily="18" charset="0"/>
                                    </a:rPr>
                                  </m:ctrlPr>
                                </m:dPr>
                                <m:e>
                                  <m:sSubSup>
                                    <m:sSubSupPr>
                                      <m:ctrlPr>
                                        <a:rPr lang="en-IN" sz="2000" i="1">
                                          <a:solidFill>
                                            <a:schemeClr val="bg1"/>
                                          </a:solidFill>
                                          <a:latin typeface="Cambria Math" panose="02040503050406030204" pitchFamily="18" charset="0"/>
                                        </a:rPr>
                                      </m:ctrlPr>
                                    </m:sSubSupPr>
                                    <m:e>
                                      <m:r>
                                        <a:rPr lang="en-IN" sz="2000" i="1">
                                          <a:solidFill>
                                            <a:schemeClr val="bg1"/>
                                          </a:solidFill>
                                          <a:latin typeface="Cambria Math" panose="02040503050406030204" pitchFamily="18" charset="0"/>
                                        </a:rPr>
                                        <m:t>𝑌</m:t>
                                      </m:r>
                                    </m:e>
                                    <m:sub>
                                      <m:r>
                                        <a:rPr lang="en-IN" sz="2000" i="1">
                                          <a:solidFill>
                                            <a:schemeClr val="bg1"/>
                                          </a:solidFill>
                                          <a:latin typeface="Cambria Math" panose="02040503050406030204" pitchFamily="18" charset="0"/>
                                        </a:rPr>
                                        <m:t>0</m:t>
                                      </m:r>
                                    </m:sub>
                                    <m:sup>
                                      <m:r>
                                        <a:rPr lang="en-IN" sz="2000" i="1">
                                          <a:solidFill>
                                            <a:schemeClr val="bg1"/>
                                          </a:solidFill>
                                          <a:latin typeface="Cambria Math" panose="02040503050406030204" pitchFamily="18" charset="0"/>
                                        </a:rPr>
                                        <m:t>𝑗</m:t>
                                      </m:r>
                                    </m:sup>
                                  </m:sSubSup>
                                  <m:d>
                                    <m:dPr>
                                      <m:ctrlPr>
                                        <a:rPr lang="en-IN" sz="2000" i="1">
                                          <a:solidFill>
                                            <a:schemeClr val="bg1"/>
                                          </a:solidFill>
                                          <a:latin typeface="Cambria Math" panose="02040503050406030204" pitchFamily="18" charset="0"/>
                                        </a:rPr>
                                      </m:ctrlPr>
                                    </m:dPr>
                                    <m:e>
                                      <m:r>
                                        <a:rPr lang="en-IN" sz="2000" i="1">
                                          <a:solidFill>
                                            <a:schemeClr val="bg1"/>
                                          </a:solidFill>
                                          <a:latin typeface="Cambria Math" panose="02040503050406030204" pitchFamily="18" charset="0"/>
                                        </a:rPr>
                                        <m:t>𝜔</m:t>
                                      </m:r>
                                    </m:e>
                                  </m:d>
                                </m:e>
                              </m:d>
                            </m:den>
                          </m:f>
                        </m:e>
                      </m:nary>
                    </m:oMath>
                  </m:oMathPara>
                </a14:m>
                <a:endParaRPr lang="en-IN" sz="2000" dirty="0">
                  <a:solidFill>
                    <a:schemeClr val="bg1"/>
                  </a:solidFill>
                </a:endParaRPr>
              </a:p>
            </p:txBody>
          </p:sp>
        </mc:Choice>
        <mc:Fallback xmlns="">
          <p:sp>
            <p:nvSpPr>
              <p:cNvPr id="2" name="Text Placeholder 1">
                <a:extLst>
                  <a:ext uri="{FF2B5EF4-FFF2-40B4-BE49-F238E27FC236}">
                    <a16:creationId xmlns:a16="http://schemas.microsoft.com/office/drawing/2014/main" id="{42AD38B6-FDC7-2AF0-42AE-EA40D52ECC5E}"/>
                  </a:ext>
                </a:extLst>
              </p:cNvPr>
              <p:cNvSpPr>
                <a:spLocks noGrp="1" noRot="1" noChangeAspect="1" noMove="1" noResize="1" noEditPoints="1" noAdjustHandles="1" noChangeArrowheads="1" noChangeShapeType="1" noTextEdit="1"/>
              </p:cNvSpPr>
              <p:nvPr>
                <p:ph type="body" idx="1"/>
              </p:nvPr>
            </p:nvSpPr>
            <p:spPr>
              <a:xfrm>
                <a:off x="1063690" y="1698171"/>
                <a:ext cx="9274628" cy="4525347"/>
              </a:xfrm>
              <a:blipFill>
                <a:blip r:embed="rId2"/>
                <a:stretch>
                  <a:fillRect l="-591" t="-1348" b="-10108"/>
                </a:stretch>
              </a:blipFill>
            </p:spPr>
            <p:txBody>
              <a:bodyPr/>
              <a:lstStyle/>
              <a:p>
                <a:r>
                  <a:rPr lang="en-IN">
                    <a:noFill/>
                  </a:rPr>
                  <a:t> </a:t>
                </a:r>
              </a:p>
            </p:txBody>
          </p:sp>
        </mc:Fallback>
      </mc:AlternateContent>
      <p:sp>
        <p:nvSpPr>
          <p:cNvPr id="3" name="Slide Number Placeholder 2">
            <a:extLst>
              <a:ext uri="{FF2B5EF4-FFF2-40B4-BE49-F238E27FC236}">
                <a16:creationId xmlns:a16="http://schemas.microsoft.com/office/drawing/2014/main" id="{7DE848E9-5B9D-2200-9A71-33818BF10CE3}"/>
              </a:ext>
            </a:extLst>
          </p:cNvPr>
          <p:cNvSpPr>
            <a:spLocks noGrp="1"/>
          </p:cNvSpPr>
          <p:nvPr>
            <p:ph type="sldNum" sz="quarter" idx="12"/>
          </p:nvPr>
        </p:nvSpPr>
        <p:spPr/>
        <p:txBody>
          <a:bodyPr/>
          <a:lstStyle/>
          <a:p>
            <a:fld id="{C263D6C4-4840-40CC-AC84-17E24B3B7BDE}" type="slidenum">
              <a:rPr lang="en-US" noProof="0" smtClean="0"/>
              <a:pPr/>
              <a:t>8</a:t>
            </a:fld>
            <a:endParaRPr lang="en-US" noProof="0" dirty="0"/>
          </a:p>
        </p:txBody>
      </p:sp>
      <p:sp>
        <p:nvSpPr>
          <p:cNvPr id="4" name="Title 3">
            <a:extLst>
              <a:ext uri="{FF2B5EF4-FFF2-40B4-BE49-F238E27FC236}">
                <a16:creationId xmlns:a16="http://schemas.microsoft.com/office/drawing/2014/main" id="{8636339A-263F-E5D7-C281-C8220847A827}"/>
              </a:ext>
            </a:extLst>
          </p:cNvPr>
          <p:cNvSpPr>
            <a:spLocks noGrp="1"/>
          </p:cNvSpPr>
          <p:nvPr>
            <p:ph type="title"/>
          </p:nvPr>
        </p:nvSpPr>
        <p:spPr>
          <a:xfrm>
            <a:off x="832103" y="951722"/>
            <a:ext cx="10187349" cy="625151"/>
          </a:xfrm>
        </p:spPr>
        <p:txBody>
          <a:bodyPr>
            <a:noAutofit/>
          </a:bodyPr>
          <a:lstStyle/>
          <a:p>
            <a:r>
              <a:rPr lang="en-US" sz="4400" dirty="0">
                <a:latin typeface="Bahnschrift Light SemiCondensed" panose="020B0502040204020203" pitchFamily="34" charset="0"/>
              </a:rPr>
              <a:t>Community Evolution Theory via Urn Model</a:t>
            </a:r>
            <a:endParaRPr lang="en-IN" sz="4400" dirty="0"/>
          </a:p>
        </p:txBody>
      </p:sp>
    </p:spTree>
    <p:extLst>
      <p:ext uri="{BB962C8B-B14F-4D97-AF65-F5344CB8AC3E}">
        <p14:creationId xmlns:p14="http://schemas.microsoft.com/office/powerpoint/2010/main" val="3936898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417EC-E9B6-5D3B-D3FB-CDD666F3FD6B}"/>
              </a:ext>
            </a:extLst>
          </p:cNvPr>
          <p:cNvSpPr>
            <a:spLocks noGrp="1"/>
          </p:cNvSpPr>
          <p:nvPr>
            <p:ph type="ctrTitle"/>
          </p:nvPr>
        </p:nvSpPr>
        <p:spPr>
          <a:xfrm>
            <a:off x="2845837" y="485194"/>
            <a:ext cx="9265298" cy="868680"/>
          </a:xfrm>
        </p:spPr>
        <p:txBody>
          <a:bodyPr/>
          <a:lstStyle/>
          <a:p>
            <a:r>
              <a:rPr lang="en-US" sz="4400" dirty="0">
                <a:solidFill>
                  <a:schemeClr val="bg1"/>
                </a:solidFill>
                <a:latin typeface="Bahnschrift Light SemiCondensed" panose="020B0502040204020203" pitchFamily="34" charset="0"/>
              </a:rPr>
              <a:t>Fixed Probability Community Evolution</a:t>
            </a:r>
            <a:endParaRPr lang="en-IN" sz="4400" dirty="0">
              <a:solidFill>
                <a:schemeClr val="bg1"/>
              </a:solidFill>
              <a:latin typeface="Bahnschrift Light SemiCondensed" panose="020B0502040204020203" pitchFamily="34" charset="0"/>
            </a:endParaRP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F1DA8420-B0FC-3585-EAF5-1ACD39A18DB7}"/>
                  </a:ext>
                </a:extLst>
              </p:cNvPr>
              <p:cNvSpPr>
                <a:spLocks noGrp="1"/>
              </p:cNvSpPr>
              <p:nvPr>
                <p:ph type="subTitle" idx="1"/>
              </p:nvPr>
            </p:nvSpPr>
            <p:spPr>
              <a:xfrm>
                <a:off x="3051109" y="1707502"/>
                <a:ext cx="8238931" cy="2882786"/>
              </a:xfrm>
            </p:spPr>
            <p:txBody>
              <a:bodyPr>
                <a:normAutofit fontScale="92500" lnSpcReduction="10000"/>
              </a:bodyPr>
              <a:lstStyle/>
              <a:p>
                <a:pPr marL="342900" indent="-342900">
                  <a:buClr>
                    <a:schemeClr val="bg1"/>
                  </a:buClr>
                  <a:buFont typeface="Wingdings" panose="05000000000000000000" pitchFamily="2" charset="2"/>
                  <a:buChar char="q"/>
                </a:pPr>
                <a:r>
                  <a:rPr lang="en-US" sz="2000" dirty="0"/>
                  <a:t>Here we assume that </a:t>
                </a:r>
                <a14:m>
                  <m:oMath xmlns:m="http://schemas.openxmlformats.org/officeDocument/2006/math">
                    <m:r>
                      <a:rPr lang="en-US" sz="2000" b="0" i="1" smtClean="0">
                        <a:latin typeface="Cambria Math" panose="02040503050406030204" pitchFamily="18" charset="0"/>
                      </a:rPr>
                      <m:t>𝑙</m:t>
                    </m:r>
                    <m:r>
                      <a:rPr lang="en-US" sz="2000" b="0" i="1" smtClean="0">
                        <a:latin typeface="Cambria Math" panose="02040503050406030204" pitchFamily="18" charset="0"/>
                      </a:rPr>
                      <m:t>=</m:t>
                    </m:r>
                    <m:r>
                      <a:rPr lang="en-US" sz="2000" b="0" i="1" smtClean="0">
                        <a:latin typeface="Cambria Math" panose="02040503050406030204" pitchFamily="18" charset="0"/>
                      </a:rPr>
                      <m:t>𝑘</m:t>
                    </m:r>
                    <m:r>
                      <a:rPr lang="en-US" sz="2000" b="0" i="1" smtClean="0">
                        <a:latin typeface="Cambria Math" panose="02040503050406030204" pitchFamily="18" charset="0"/>
                      </a:rPr>
                      <m:t>∈</m:t>
                    </m:r>
                    <m:r>
                      <a:rPr lang="en-US" sz="2000" b="0" i="1" smtClean="0">
                        <a:latin typeface="Cambria Math" panose="02040503050406030204" pitchFamily="18" charset="0"/>
                      </a:rPr>
                      <m:t>𝑁</m:t>
                    </m:r>
                  </m:oMath>
                </a14:m>
                <a:r>
                  <a:rPr lang="en-IN" sz="2000" dirty="0"/>
                  <a:t> and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𝜌</m:t>
                        </m:r>
                      </m:e>
                      <m:sub>
                        <m:r>
                          <a:rPr lang="en-US" sz="2000" b="0" i="1" smtClean="0">
                            <a:latin typeface="Cambria Math" panose="02040503050406030204" pitchFamily="18" charset="0"/>
                          </a:rPr>
                          <m:t>𝑖𝑗</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𝑙</m:t>
                        </m:r>
                      </m:den>
                    </m:f>
                  </m:oMath>
                </a14:m>
                <a:r>
                  <a:rPr lang="en-IN" sz="2000" dirty="0"/>
                  <a:t> for all </a:t>
                </a:r>
                <a14:m>
                  <m:oMath xmlns:m="http://schemas.openxmlformats.org/officeDocument/2006/math">
                    <m:r>
                      <m:rPr>
                        <m:sty m:val="p"/>
                      </m:rPr>
                      <a:rPr lang="en-US" sz="2000" b="0" i="1" smtClean="0">
                        <a:latin typeface="Cambria Math" panose="02040503050406030204" pitchFamily="18" charset="0"/>
                      </a:rPr>
                      <m:t>i</m:t>
                    </m:r>
                    <m:r>
                      <a:rPr lang="en-US" sz="2000" b="0" i="1" smtClean="0">
                        <a:latin typeface="Cambria Math" panose="02040503050406030204" pitchFamily="18" charset="0"/>
                      </a:rPr>
                      <m:t>,</m:t>
                    </m:r>
                    <m:r>
                      <m:rPr>
                        <m:sty m:val="p"/>
                      </m:rPr>
                      <a:rPr lang="en-US" sz="2000" b="0" i="1" smtClean="0">
                        <a:latin typeface="Cambria Math" panose="02040503050406030204" pitchFamily="18" charset="0"/>
                      </a:rPr>
                      <m:t>j</m:t>
                    </m:r>
                    <m:r>
                      <a:rPr lang="en-US" sz="2000" b="0" i="1" smtClean="0">
                        <a:latin typeface="Cambria Math" panose="02040503050406030204" pitchFamily="18" charset="0"/>
                      </a:rPr>
                      <m:t>=1(1)</m:t>
                    </m:r>
                    <m:r>
                      <m:rPr>
                        <m:sty m:val="p"/>
                      </m:rPr>
                      <a:rPr lang="en-US" sz="2000" b="0" i="1" smtClean="0">
                        <a:latin typeface="Cambria Math" panose="02040503050406030204" pitchFamily="18" charset="0"/>
                      </a:rPr>
                      <m:t>l</m:t>
                    </m:r>
                  </m:oMath>
                </a14:m>
                <a:r>
                  <a:rPr lang="en-IN" sz="2000" dirty="0"/>
                  <a:t>. That is after selection of a type all communities are equally likely to be selected. </a:t>
                </a:r>
              </a:p>
              <a:p>
                <a:pPr marL="342900" indent="-342900">
                  <a:buClr>
                    <a:schemeClr val="bg1"/>
                  </a:buClr>
                  <a:buFont typeface="Wingdings" panose="05000000000000000000" pitchFamily="2" charset="2"/>
                  <a:buChar char="q"/>
                </a:pPr>
                <a:r>
                  <a:rPr lang="en-IN" sz="2000" dirty="0"/>
                  <a:t>For this case our main interest is if we start with equal number of person in each community, will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𝑡</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𝜔</m:t>
                        </m:r>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𝑙</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𝑙</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𝑙</m:t>
                            </m:r>
                          </m:den>
                        </m:f>
                      </m:e>
                    </m:d>
                  </m:oMath>
                </a14:m>
                <a:r>
                  <a:rPr lang="en-IN" sz="2000" dirty="0"/>
                  <a:t>. </a:t>
                </a:r>
              </a:p>
              <a:p>
                <a:pPr marL="342900" indent="-342900">
                  <a:buClr>
                    <a:schemeClr val="bg1"/>
                  </a:buClr>
                  <a:buFont typeface="Wingdings" panose="05000000000000000000" pitchFamily="2" charset="2"/>
                  <a:buChar char="q"/>
                </a:pPr>
                <a:r>
                  <a:rPr lang="en-IN" sz="2000" dirty="0"/>
                  <a:t>We perform a basic simulation study for this. We start with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0</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𝜔</m:t>
                        </m:r>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10,10,10,10,10</m:t>
                        </m:r>
                      </m:e>
                    </m:d>
                  </m:oMath>
                </a14:m>
                <a:r>
                  <a:rPr lang="en-IN" sz="2000" dirty="0"/>
                  <a:t> with </a:t>
                </a:r>
                <a14:m>
                  <m:oMath xmlns:m="http://schemas.openxmlformats.org/officeDocument/2006/math">
                    <m:r>
                      <m:rPr>
                        <m:sty m:val="p"/>
                      </m:rPr>
                      <a:rPr lang="en-US" sz="2000" b="0" i="1" smtClean="0">
                        <a:latin typeface="Cambria Math" panose="02040503050406030204" pitchFamily="18" charset="0"/>
                      </a:rPr>
                      <m:t>l</m:t>
                    </m:r>
                    <m:r>
                      <a:rPr lang="en-US" sz="2000" b="0" i="1" smtClean="0">
                        <a:latin typeface="Cambria Math" panose="02040503050406030204" pitchFamily="18" charset="0"/>
                      </a:rPr>
                      <m:t>=</m:t>
                    </m:r>
                    <m:r>
                      <m:rPr>
                        <m:sty m:val="p"/>
                      </m:rPr>
                      <a:rPr lang="en-US" sz="2000" b="0" i="1" smtClean="0">
                        <a:latin typeface="Cambria Math" panose="02040503050406030204" pitchFamily="18" charset="0"/>
                      </a:rPr>
                      <m:t>k</m:t>
                    </m:r>
                    <m:r>
                      <a:rPr lang="en-US" sz="2000" b="0" i="1" smtClean="0">
                        <a:latin typeface="Cambria Math" panose="02040503050406030204" pitchFamily="18" charset="0"/>
                      </a:rPr>
                      <m:t>=5</m:t>
                    </m:r>
                  </m:oMath>
                </a14:m>
                <a:r>
                  <a:rPr lang="en-IN" sz="2000" dirty="0"/>
                  <a:t>. We take 1000 iterations that is </a:t>
                </a:r>
                <a14:m>
                  <m:oMath xmlns:m="http://schemas.openxmlformats.org/officeDocument/2006/math">
                    <m:r>
                      <m:rPr>
                        <m:sty m:val="p"/>
                      </m:rPr>
                      <a:rPr lang="en-US" sz="2000" b="0" i="1" smtClean="0">
                        <a:latin typeface="Cambria Math" panose="02040503050406030204" pitchFamily="18" charset="0"/>
                      </a:rPr>
                      <m:t>t</m:t>
                    </m:r>
                    <m:r>
                      <a:rPr lang="en-US" sz="2000" b="0" i="1" smtClean="0">
                        <a:latin typeface="Cambria Math" panose="02040503050406030204" pitchFamily="18" charset="0"/>
                      </a:rPr>
                      <m:t>=1(1)1000</m:t>
                    </m:r>
                  </m:oMath>
                </a14:m>
                <a:r>
                  <a:rPr lang="en-IN" sz="2000" dirty="0"/>
                  <a:t>. We perform 6 simulations.</a:t>
                </a:r>
              </a:p>
            </p:txBody>
          </p:sp>
        </mc:Choice>
        <mc:Fallback xmlns="">
          <p:sp>
            <p:nvSpPr>
              <p:cNvPr id="3" name="Subtitle 2">
                <a:extLst>
                  <a:ext uri="{FF2B5EF4-FFF2-40B4-BE49-F238E27FC236}">
                    <a16:creationId xmlns:a16="http://schemas.microsoft.com/office/drawing/2014/main" id="{F1DA8420-B0FC-3585-EAF5-1ACD39A18DB7}"/>
                  </a:ext>
                </a:extLst>
              </p:cNvPr>
              <p:cNvSpPr>
                <a:spLocks noGrp="1" noRot="1" noChangeAspect="1" noMove="1" noResize="1" noEditPoints="1" noAdjustHandles="1" noChangeArrowheads="1" noChangeShapeType="1" noTextEdit="1"/>
              </p:cNvSpPr>
              <p:nvPr>
                <p:ph type="subTitle" idx="1"/>
              </p:nvPr>
            </p:nvSpPr>
            <p:spPr>
              <a:xfrm>
                <a:off x="3051109" y="1707502"/>
                <a:ext cx="8238931" cy="2882786"/>
              </a:xfrm>
              <a:blipFill>
                <a:blip r:embed="rId2"/>
                <a:stretch>
                  <a:fillRect l="-592" t="-1480" r="-888" b="-3171"/>
                </a:stretch>
              </a:blipFill>
            </p:spPr>
            <p:txBody>
              <a:bodyPr/>
              <a:lstStyle/>
              <a:p>
                <a:r>
                  <a:rPr lang="en-IN">
                    <a:noFill/>
                  </a:rPr>
                  <a:t> </a:t>
                </a:r>
              </a:p>
            </p:txBody>
          </p:sp>
        </mc:Fallback>
      </mc:AlternateContent>
    </p:spTree>
    <p:extLst>
      <p:ext uri="{BB962C8B-B14F-4D97-AF65-F5344CB8AC3E}">
        <p14:creationId xmlns:p14="http://schemas.microsoft.com/office/powerpoint/2010/main" val="4143075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701731"/>
          </a:xfrm>
        </p:spPr>
        <p:txBody>
          <a:bodyPr/>
          <a:lstStyle/>
          <a:p>
            <a:r>
              <a:rPr lang="en-US" sz="4400" dirty="0">
                <a:latin typeface="Bahnschrift Light SemiCondensed" panose="020B0502040204020203" pitchFamily="34" charset="0"/>
              </a:rPr>
              <a:t>Fixed Probability Community Evolution</a:t>
            </a:r>
            <a:endParaRPr lang="en-US" sz="4400" dirty="0"/>
          </a:p>
        </p:txBody>
      </p:sp>
      <p:pic>
        <p:nvPicPr>
          <p:cNvPr id="20" name="Picture Placeholder 19" descr="Triangular pattern design with dimension">
            <a:extLst>
              <a:ext uri="{FF2B5EF4-FFF2-40B4-BE49-F238E27FC236}">
                <a16:creationId xmlns:a16="http://schemas.microsoft.com/office/drawing/2014/main" id="{3DCA2B8E-64D3-7645-8DEB-688ED5756F52}"/>
              </a:ext>
            </a:extLst>
          </p:cNvPr>
          <p:cNvPicPr>
            <a:picLocks noGrp="1" noChangeAspect="1"/>
          </p:cNvPicPr>
          <p:nvPr>
            <p:ph type="pic" sz="quarter" idx="19"/>
          </p:nvPr>
        </p:nvPicPr>
        <p:blipFill>
          <a:blip r:embed="rId2">
            <a:extLst>
              <a:ext uri="{28A0092B-C50C-407E-A947-70E740481C1C}">
                <a14:useLocalDpi xmlns:a14="http://schemas.microsoft.com/office/drawing/2010/main" val="0"/>
              </a:ext>
            </a:extLst>
          </a:blip>
          <a:srcRect/>
          <a:stretch>
            <a:fillRect/>
          </a:stretch>
        </p:blipFill>
        <p:spPr/>
      </p:pic>
      <p:sp>
        <p:nvSpPr>
          <p:cNvPr id="2" name="Slide Number Placeholder 1">
            <a:extLst>
              <a:ext uri="{FF2B5EF4-FFF2-40B4-BE49-F238E27FC236}">
                <a16:creationId xmlns:a16="http://schemas.microsoft.com/office/drawing/2014/main" id="{2F478C69-0A1D-45FF-8600-ED903803FFE1}"/>
              </a:ext>
            </a:extLst>
          </p:cNvPr>
          <p:cNvSpPr>
            <a:spLocks noGrp="1"/>
          </p:cNvSpPr>
          <p:nvPr>
            <p:ph type="sldNum" sz="quarter" idx="12"/>
          </p:nvPr>
        </p:nvSpPr>
        <p:spPr/>
        <p:txBody>
          <a:bodyPr/>
          <a:lstStyle/>
          <a:p>
            <a:fld id="{C263D6C4-4840-40CC-AC84-17E24B3B7BDE}" type="slidenum">
              <a:rPr lang="en-US" smtClean="0"/>
              <a:pPr/>
              <a:t>10</a:t>
            </a:fld>
            <a:endParaRPr lang="en-US" dirty="0"/>
          </a:p>
        </p:txBody>
      </p:sp>
      <p:graphicFrame>
        <p:nvGraphicFramePr>
          <p:cNvPr id="5" name="Table 4">
            <a:extLst>
              <a:ext uri="{FF2B5EF4-FFF2-40B4-BE49-F238E27FC236}">
                <a16:creationId xmlns:a16="http://schemas.microsoft.com/office/drawing/2014/main" id="{00BA7C40-1544-70E6-B038-982FA5976387}"/>
              </a:ext>
            </a:extLst>
          </p:cNvPr>
          <p:cNvGraphicFramePr>
            <a:graphicFrameLocks noGrp="1"/>
          </p:cNvGraphicFramePr>
          <p:nvPr>
            <p:extLst>
              <p:ext uri="{D42A27DB-BD31-4B8C-83A1-F6EECF244321}">
                <p14:modId xmlns:p14="http://schemas.microsoft.com/office/powerpoint/2010/main" val="3607715479"/>
              </p:ext>
            </p:extLst>
          </p:nvPr>
        </p:nvGraphicFramePr>
        <p:xfrm>
          <a:off x="531844" y="2070654"/>
          <a:ext cx="10627566" cy="4367468"/>
        </p:xfrm>
        <a:graphic>
          <a:graphicData uri="http://schemas.openxmlformats.org/drawingml/2006/table">
            <a:tbl>
              <a:tblPr firstRow="1" bandRow="1">
                <a:tableStyleId>{5C22544A-7EE6-4342-B048-85BDC9FD1C3A}</a:tableStyleId>
              </a:tblPr>
              <a:tblGrid>
                <a:gridCol w="1771261">
                  <a:extLst>
                    <a:ext uri="{9D8B030D-6E8A-4147-A177-3AD203B41FA5}">
                      <a16:colId xmlns:a16="http://schemas.microsoft.com/office/drawing/2014/main" val="1998878728"/>
                    </a:ext>
                  </a:extLst>
                </a:gridCol>
                <a:gridCol w="1771261">
                  <a:extLst>
                    <a:ext uri="{9D8B030D-6E8A-4147-A177-3AD203B41FA5}">
                      <a16:colId xmlns:a16="http://schemas.microsoft.com/office/drawing/2014/main" val="1453456632"/>
                    </a:ext>
                  </a:extLst>
                </a:gridCol>
                <a:gridCol w="1771261">
                  <a:extLst>
                    <a:ext uri="{9D8B030D-6E8A-4147-A177-3AD203B41FA5}">
                      <a16:colId xmlns:a16="http://schemas.microsoft.com/office/drawing/2014/main" val="1781284045"/>
                    </a:ext>
                  </a:extLst>
                </a:gridCol>
                <a:gridCol w="1771261">
                  <a:extLst>
                    <a:ext uri="{9D8B030D-6E8A-4147-A177-3AD203B41FA5}">
                      <a16:colId xmlns:a16="http://schemas.microsoft.com/office/drawing/2014/main" val="1075552368"/>
                    </a:ext>
                  </a:extLst>
                </a:gridCol>
                <a:gridCol w="1771261">
                  <a:extLst>
                    <a:ext uri="{9D8B030D-6E8A-4147-A177-3AD203B41FA5}">
                      <a16:colId xmlns:a16="http://schemas.microsoft.com/office/drawing/2014/main" val="2454881810"/>
                    </a:ext>
                  </a:extLst>
                </a:gridCol>
                <a:gridCol w="1771261">
                  <a:extLst>
                    <a:ext uri="{9D8B030D-6E8A-4147-A177-3AD203B41FA5}">
                      <a16:colId xmlns:a16="http://schemas.microsoft.com/office/drawing/2014/main" val="3652027955"/>
                    </a:ext>
                  </a:extLst>
                </a:gridCol>
              </a:tblGrid>
              <a:tr h="623924">
                <a:tc>
                  <a:txBody>
                    <a:bodyPr/>
                    <a:lstStyle/>
                    <a:p>
                      <a:r>
                        <a:rPr lang="en-IN" dirty="0"/>
                        <a:t>SL.NO.</a:t>
                      </a:r>
                    </a:p>
                  </a:txBody>
                  <a:tcPr/>
                </a:tc>
                <a:tc>
                  <a:txBody>
                    <a:bodyPr/>
                    <a:lstStyle/>
                    <a:p>
                      <a:r>
                        <a:rPr lang="en-US" dirty="0"/>
                        <a:t>C1</a:t>
                      </a:r>
                      <a:endParaRPr lang="en-IN" dirty="0"/>
                    </a:p>
                  </a:txBody>
                  <a:tcPr/>
                </a:tc>
                <a:tc>
                  <a:txBody>
                    <a:bodyPr/>
                    <a:lstStyle/>
                    <a:p>
                      <a:r>
                        <a:rPr lang="en-US" dirty="0"/>
                        <a:t>C2</a:t>
                      </a:r>
                      <a:endParaRPr lang="en-IN" dirty="0"/>
                    </a:p>
                  </a:txBody>
                  <a:tcPr/>
                </a:tc>
                <a:tc>
                  <a:txBody>
                    <a:bodyPr/>
                    <a:lstStyle/>
                    <a:p>
                      <a:r>
                        <a:rPr lang="en-US" dirty="0"/>
                        <a:t>C3</a:t>
                      </a:r>
                      <a:endParaRPr lang="en-IN" dirty="0"/>
                    </a:p>
                  </a:txBody>
                  <a:tcPr/>
                </a:tc>
                <a:tc>
                  <a:txBody>
                    <a:bodyPr/>
                    <a:lstStyle/>
                    <a:p>
                      <a:r>
                        <a:rPr lang="en-US" dirty="0"/>
                        <a:t>C4</a:t>
                      </a:r>
                      <a:endParaRPr lang="en-IN" dirty="0"/>
                    </a:p>
                  </a:txBody>
                  <a:tcPr/>
                </a:tc>
                <a:tc>
                  <a:txBody>
                    <a:bodyPr/>
                    <a:lstStyle/>
                    <a:p>
                      <a:r>
                        <a:rPr lang="en-US" dirty="0"/>
                        <a:t>C5</a:t>
                      </a:r>
                      <a:endParaRPr lang="en-IN" dirty="0"/>
                    </a:p>
                  </a:txBody>
                  <a:tcPr/>
                </a:tc>
                <a:extLst>
                  <a:ext uri="{0D108BD9-81ED-4DB2-BD59-A6C34878D82A}">
                    <a16:rowId xmlns:a16="http://schemas.microsoft.com/office/drawing/2014/main" val="110609961"/>
                  </a:ext>
                </a:extLst>
              </a:tr>
              <a:tr h="623924">
                <a:tc>
                  <a:txBody>
                    <a:bodyPr/>
                    <a:lstStyle/>
                    <a:p>
                      <a:r>
                        <a:rPr lang="en-US" dirty="0"/>
                        <a:t>1</a:t>
                      </a:r>
                      <a:endParaRPr lang="en-IN" dirty="0"/>
                    </a:p>
                  </a:txBody>
                  <a:tcPr/>
                </a:tc>
                <a:tc>
                  <a:txBody>
                    <a:bodyPr/>
                    <a:lstStyle/>
                    <a:p>
                      <a:r>
                        <a:rPr lang="en-US" dirty="0"/>
                        <a:t>0.2105</a:t>
                      </a:r>
                      <a:endParaRPr lang="en-IN" dirty="0"/>
                    </a:p>
                  </a:txBody>
                  <a:tcPr/>
                </a:tc>
                <a:tc>
                  <a:txBody>
                    <a:bodyPr/>
                    <a:lstStyle/>
                    <a:p>
                      <a:r>
                        <a:rPr lang="en-US" dirty="0"/>
                        <a:t>0.2095</a:t>
                      </a:r>
                      <a:endParaRPr lang="en-IN" dirty="0"/>
                    </a:p>
                  </a:txBody>
                  <a:tcPr/>
                </a:tc>
                <a:tc>
                  <a:txBody>
                    <a:bodyPr/>
                    <a:lstStyle/>
                    <a:p>
                      <a:r>
                        <a:rPr lang="en-US" dirty="0"/>
                        <a:t>0.2067</a:t>
                      </a:r>
                      <a:endParaRPr lang="en-IN" dirty="0"/>
                    </a:p>
                  </a:txBody>
                  <a:tcPr/>
                </a:tc>
                <a:tc>
                  <a:txBody>
                    <a:bodyPr/>
                    <a:lstStyle/>
                    <a:p>
                      <a:r>
                        <a:rPr lang="en-US" dirty="0"/>
                        <a:t>0.1914</a:t>
                      </a:r>
                      <a:endParaRPr lang="en-IN" dirty="0"/>
                    </a:p>
                  </a:txBody>
                  <a:tcPr/>
                </a:tc>
                <a:tc>
                  <a:txBody>
                    <a:bodyPr/>
                    <a:lstStyle/>
                    <a:p>
                      <a:r>
                        <a:rPr lang="en-US" dirty="0"/>
                        <a:t>0.1819</a:t>
                      </a:r>
                      <a:endParaRPr lang="en-IN" dirty="0"/>
                    </a:p>
                  </a:txBody>
                  <a:tcPr/>
                </a:tc>
                <a:extLst>
                  <a:ext uri="{0D108BD9-81ED-4DB2-BD59-A6C34878D82A}">
                    <a16:rowId xmlns:a16="http://schemas.microsoft.com/office/drawing/2014/main" val="3000816560"/>
                  </a:ext>
                </a:extLst>
              </a:tr>
              <a:tr h="623924">
                <a:tc>
                  <a:txBody>
                    <a:bodyPr/>
                    <a:lstStyle/>
                    <a:p>
                      <a:r>
                        <a:rPr lang="en-US" dirty="0"/>
                        <a:t>2</a:t>
                      </a:r>
                      <a:endParaRPr lang="en-IN" dirty="0"/>
                    </a:p>
                  </a:txBody>
                  <a:tcPr/>
                </a:tc>
                <a:tc>
                  <a:txBody>
                    <a:bodyPr/>
                    <a:lstStyle/>
                    <a:p>
                      <a:r>
                        <a:rPr lang="en-US" dirty="0"/>
                        <a:t>0.2029</a:t>
                      </a:r>
                      <a:endParaRPr lang="en-IN" dirty="0"/>
                    </a:p>
                  </a:txBody>
                  <a:tcPr/>
                </a:tc>
                <a:tc>
                  <a:txBody>
                    <a:bodyPr/>
                    <a:lstStyle/>
                    <a:p>
                      <a:r>
                        <a:rPr lang="en-US" dirty="0"/>
                        <a:t>0.1952</a:t>
                      </a:r>
                      <a:endParaRPr lang="en-IN" dirty="0"/>
                    </a:p>
                  </a:txBody>
                  <a:tcPr/>
                </a:tc>
                <a:tc>
                  <a:txBody>
                    <a:bodyPr/>
                    <a:lstStyle/>
                    <a:p>
                      <a:r>
                        <a:rPr lang="en-US" dirty="0"/>
                        <a:t>0.2057</a:t>
                      </a:r>
                      <a:endParaRPr lang="en-IN" dirty="0"/>
                    </a:p>
                  </a:txBody>
                  <a:tcPr/>
                </a:tc>
                <a:tc>
                  <a:txBody>
                    <a:bodyPr/>
                    <a:lstStyle/>
                    <a:p>
                      <a:r>
                        <a:rPr lang="en-US" dirty="0"/>
                        <a:t>0.2076</a:t>
                      </a:r>
                      <a:endParaRPr lang="en-IN" dirty="0"/>
                    </a:p>
                  </a:txBody>
                  <a:tcPr/>
                </a:tc>
                <a:tc>
                  <a:txBody>
                    <a:bodyPr/>
                    <a:lstStyle/>
                    <a:p>
                      <a:r>
                        <a:rPr lang="en-US" dirty="0"/>
                        <a:t>0.1886</a:t>
                      </a:r>
                      <a:endParaRPr lang="en-IN" dirty="0"/>
                    </a:p>
                  </a:txBody>
                  <a:tcPr/>
                </a:tc>
                <a:extLst>
                  <a:ext uri="{0D108BD9-81ED-4DB2-BD59-A6C34878D82A}">
                    <a16:rowId xmlns:a16="http://schemas.microsoft.com/office/drawing/2014/main" val="1560028159"/>
                  </a:ext>
                </a:extLst>
              </a:tr>
              <a:tr h="623924">
                <a:tc>
                  <a:txBody>
                    <a:bodyPr/>
                    <a:lstStyle/>
                    <a:p>
                      <a:r>
                        <a:rPr lang="en-US" dirty="0"/>
                        <a:t>3</a:t>
                      </a:r>
                      <a:endParaRPr lang="en-IN" dirty="0"/>
                    </a:p>
                  </a:txBody>
                  <a:tcPr/>
                </a:tc>
                <a:tc>
                  <a:txBody>
                    <a:bodyPr/>
                    <a:lstStyle/>
                    <a:p>
                      <a:r>
                        <a:rPr lang="en-US" dirty="0"/>
                        <a:t>0.1943</a:t>
                      </a:r>
                      <a:endParaRPr lang="en-IN" dirty="0"/>
                    </a:p>
                  </a:txBody>
                  <a:tcPr/>
                </a:tc>
                <a:tc>
                  <a:txBody>
                    <a:bodyPr/>
                    <a:lstStyle/>
                    <a:p>
                      <a:r>
                        <a:rPr lang="en-US" dirty="0"/>
                        <a:t>0.2200</a:t>
                      </a:r>
                      <a:endParaRPr lang="en-IN" dirty="0"/>
                    </a:p>
                  </a:txBody>
                  <a:tcPr/>
                </a:tc>
                <a:tc>
                  <a:txBody>
                    <a:bodyPr/>
                    <a:lstStyle/>
                    <a:p>
                      <a:r>
                        <a:rPr lang="en-US" dirty="0"/>
                        <a:t>0.1924</a:t>
                      </a:r>
                      <a:endParaRPr lang="en-IN" dirty="0"/>
                    </a:p>
                  </a:txBody>
                  <a:tcPr/>
                </a:tc>
                <a:tc>
                  <a:txBody>
                    <a:bodyPr/>
                    <a:lstStyle/>
                    <a:p>
                      <a:r>
                        <a:rPr lang="en-US" dirty="0"/>
                        <a:t>0.1838</a:t>
                      </a:r>
                      <a:endParaRPr lang="en-IN" dirty="0"/>
                    </a:p>
                  </a:txBody>
                  <a:tcPr/>
                </a:tc>
                <a:tc>
                  <a:txBody>
                    <a:bodyPr/>
                    <a:lstStyle/>
                    <a:p>
                      <a:r>
                        <a:rPr lang="en-US" dirty="0"/>
                        <a:t>0.2095</a:t>
                      </a:r>
                      <a:endParaRPr lang="en-IN" dirty="0"/>
                    </a:p>
                  </a:txBody>
                  <a:tcPr/>
                </a:tc>
                <a:extLst>
                  <a:ext uri="{0D108BD9-81ED-4DB2-BD59-A6C34878D82A}">
                    <a16:rowId xmlns:a16="http://schemas.microsoft.com/office/drawing/2014/main" val="1179860558"/>
                  </a:ext>
                </a:extLst>
              </a:tr>
              <a:tr h="623924">
                <a:tc>
                  <a:txBody>
                    <a:bodyPr/>
                    <a:lstStyle/>
                    <a:p>
                      <a:r>
                        <a:rPr lang="en-US" dirty="0"/>
                        <a:t>4</a:t>
                      </a:r>
                      <a:endParaRPr lang="en-IN" dirty="0"/>
                    </a:p>
                  </a:txBody>
                  <a:tcPr/>
                </a:tc>
                <a:tc>
                  <a:txBody>
                    <a:bodyPr/>
                    <a:lstStyle/>
                    <a:p>
                      <a:r>
                        <a:rPr lang="en-US" dirty="0"/>
                        <a:t>0.1886</a:t>
                      </a:r>
                      <a:endParaRPr lang="en-IN" dirty="0"/>
                    </a:p>
                  </a:txBody>
                  <a:tcPr/>
                </a:tc>
                <a:tc>
                  <a:txBody>
                    <a:bodyPr/>
                    <a:lstStyle/>
                    <a:p>
                      <a:r>
                        <a:rPr lang="en-US" dirty="0"/>
                        <a:t>0.1733</a:t>
                      </a:r>
                      <a:endParaRPr lang="en-IN" dirty="0"/>
                    </a:p>
                  </a:txBody>
                  <a:tcPr/>
                </a:tc>
                <a:tc>
                  <a:txBody>
                    <a:bodyPr/>
                    <a:lstStyle/>
                    <a:p>
                      <a:r>
                        <a:rPr lang="en-US" dirty="0"/>
                        <a:t>0.2143</a:t>
                      </a:r>
                      <a:endParaRPr lang="en-IN" dirty="0"/>
                    </a:p>
                  </a:txBody>
                  <a:tcPr/>
                </a:tc>
                <a:tc>
                  <a:txBody>
                    <a:bodyPr/>
                    <a:lstStyle/>
                    <a:p>
                      <a:r>
                        <a:rPr lang="en-US" dirty="0"/>
                        <a:t>0.2067</a:t>
                      </a:r>
                      <a:endParaRPr lang="en-IN" dirty="0"/>
                    </a:p>
                  </a:txBody>
                  <a:tcPr/>
                </a:tc>
                <a:tc>
                  <a:txBody>
                    <a:bodyPr/>
                    <a:lstStyle/>
                    <a:p>
                      <a:r>
                        <a:rPr lang="en-US" dirty="0"/>
                        <a:t>0.2172</a:t>
                      </a:r>
                      <a:endParaRPr lang="en-IN" dirty="0"/>
                    </a:p>
                  </a:txBody>
                  <a:tcPr/>
                </a:tc>
                <a:extLst>
                  <a:ext uri="{0D108BD9-81ED-4DB2-BD59-A6C34878D82A}">
                    <a16:rowId xmlns:a16="http://schemas.microsoft.com/office/drawing/2014/main" val="2082106087"/>
                  </a:ext>
                </a:extLst>
              </a:tr>
              <a:tr h="623924">
                <a:tc>
                  <a:txBody>
                    <a:bodyPr/>
                    <a:lstStyle/>
                    <a:p>
                      <a:r>
                        <a:rPr lang="en-US" dirty="0"/>
                        <a:t>5</a:t>
                      </a:r>
                      <a:endParaRPr lang="en-IN" dirty="0"/>
                    </a:p>
                  </a:txBody>
                  <a:tcPr/>
                </a:tc>
                <a:tc>
                  <a:txBody>
                    <a:bodyPr/>
                    <a:lstStyle/>
                    <a:p>
                      <a:r>
                        <a:rPr lang="en-US" dirty="0"/>
                        <a:t>0.1952</a:t>
                      </a:r>
                      <a:endParaRPr lang="en-IN" dirty="0"/>
                    </a:p>
                  </a:txBody>
                  <a:tcPr/>
                </a:tc>
                <a:tc>
                  <a:txBody>
                    <a:bodyPr/>
                    <a:lstStyle/>
                    <a:p>
                      <a:r>
                        <a:rPr lang="en-US" dirty="0"/>
                        <a:t>0.2181</a:t>
                      </a:r>
                      <a:endParaRPr lang="en-IN" dirty="0"/>
                    </a:p>
                  </a:txBody>
                  <a:tcPr/>
                </a:tc>
                <a:tc>
                  <a:txBody>
                    <a:bodyPr/>
                    <a:lstStyle/>
                    <a:p>
                      <a:r>
                        <a:rPr lang="en-US" dirty="0"/>
                        <a:t>0.1876</a:t>
                      </a:r>
                      <a:endParaRPr lang="en-IN" dirty="0"/>
                    </a:p>
                  </a:txBody>
                  <a:tcPr/>
                </a:tc>
                <a:tc>
                  <a:txBody>
                    <a:bodyPr/>
                    <a:lstStyle/>
                    <a:p>
                      <a:r>
                        <a:rPr lang="en-US" dirty="0"/>
                        <a:t>0.1895</a:t>
                      </a:r>
                      <a:endParaRPr lang="en-IN" dirty="0"/>
                    </a:p>
                  </a:txBody>
                  <a:tcPr/>
                </a:tc>
                <a:tc>
                  <a:txBody>
                    <a:bodyPr/>
                    <a:lstStyle/>
                    <a:p>
                      <a:r>
                        <a:rPr lang="en-US" dirty="0"/>
                        <a:t>0.2095</a:t>
                      </a:r>
                      <a:endParaRPr lang="en-IN" dirty="0"/>
                    </a:p>
                  </a:txBody>
                  <a:tcPr/>
                </a:tc>
                <a:extLst>
                  <a:ext uri="{0D108BD9-81ED-4DB2-BD59-A6C34878D82A}">
                    <a16:rowId xmlns:a16="http://schemas.microsoft.com/office/drawing/2014/main" val="3480509149"/>
                  </a:ext>
                </a:extLst>
              </a:tr>
              <a:tr h="623924">
                <a:tc>
                  <a:txBody>
                    <a:bodyPr/>
                    <a:lstStyle/>
                    <a:p>
                      <a:r>
                        <a:rPr lang="en-US" dirty="0"/>
                        <a:t>6</a:t>
                      </a:r>
                      <a:endParaRPr lang="en-IN" dirty="0"/>
                    </a:p>
                  </a:txBody>
                  <a:tcPr/>
                </a:tc>
                <a:tc>
                  <a:txBody>
                    <a:bodyPr/>
                    <a:lstStyle/>
                    <a:p>
                      <a:r>
                        <a:rPr lang="en-US" dirty="0"/>
                        <a:t>0.1933</a:t>
                      </a:r>
                      <a:endParaRPr lang="en-IN" dirty="0"/>
                    </a:p>
                  </a:txBody>
                  <a:tcPr/>
                </a:tc>
                <a:tc>
                  <a:txBody>
                    <a:bodyPr/>
                    <a:lstStyle/>
                    <a:p>
                      <a:r>
                        <a:rPr lang="en-US" dirty="0"/>
                        <a:t>0.2086</a:t>
                      </a:r>
                      <a:endParaRPr lang="en-IN" dirty="0"/>
                    </a:p>
                  </a:txBody>
                  <a:tcPr/>
                </a:tc>
                <a:tc>
                  <a:txBody>
                    <a:bodyPr/>
                    <a:lstStyle/>
                    <a:p>
                      <a:r>
                        <a:rPr lang="en-US" dirty="0"/>
                        <a:t>0.2029</a:t>
                      </a:r>
                      <a:endParaRPr lang="en-IN" dirty="0"/>
                    </a:p>
                  </a:txBody>
                  <a:tcPr/>
                </a:tc>
                <a:tc>
                  <a:txBody>
                    <a:bodyPr/>
                    <a:lstStyle/>
                    <a:p>
                      <a:r>
                        <a:rPr lang="en-US" dirty="0"/>
                        <a:t>0.1933</a:t>
                      </a:r>
                      <a:endParaRPr lang="en-IN" dirty="0"/>
                    </a:p>
                  </a:txBody>
                  <a:tcPr/>
                </a:tc>
                <a:tc>
                  <a:txBody>
                    <a:bodyPr/>
                    <a:lstStyle/>
                    <a:p>
                      <a:r>
                        <a:rPr lang="en-US" dirty="0"/>
                        <a:t>0.2019</a:t>
                      </a:r>
                      <a:endParaRPr lang="en-IN" dirty="0"/>
                    </a:p>
                  </a:txBody>
                  <a:tcPr/>
                </a:tc>
                <a:extLst>
                  <a:ext uri="{0D108BD9-81ED-4DB2-BD59-A6C34878D82A}">
                    <a16:rowId xmlns:a16="http://schemas.microsoft.com/office/drawing/2014/main" val="2029124024"/>
                  </a:ext>
                </a:extLst>
              </a:tr>
            </a:tbl>
          </a:graphicData>
        </a:graphic>
      </p:graphicFrame>
    </p:spTree>
    <p:extLst>
      <p:ext uri="{BB962C8B-B14F-4D97-AF65-F5344CB8AC3E}">
        <p14:creationId xmlns:p14="http://schemas.microsoft.com/office/powerpoint/2010/main" val="451187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701731"/>
          </a:xfrm>
        </p:spPr>
        <p:txBody>
          <a:bodyPr/>
          <a:lstStyle/>
          <a:p>
            <a:r>
              <a:rPr lang="en-US" sz="4400" dirty="0">
                <a:latin typeface="Bahnschrift Light SemiCondensed" panose="020B0502040204020203" pitchFamily="34" charset="0"/>
              </a:rPr>
              <a:t>Fixed Probability Community Evolution</a:t>
            </a:r>
            <a:endParaRPr lang="en-US" sz="4400" dirty="0"/>
          </a:p>
        </p:txBody>
      </p:sp>
      <p:pic>
        <p:nvPicPr>
          <p:cNvPr id="8" name="Picture Placeholder 7" descr="Triangular pattern design with dimension">
            <a:extLst>
              <a:ext uri="{FF2B5EF4-FFF2-40B4-BE49-F238E27FC236}">
                <a16:creationId xmlns:a16="http://schemas.microsoft.com/office/drawing/2014/main" id="{2301248D-7370-7643-9BE6-F8CDCFF4D460}"/>
              </a:ext>
            </a:extLst>
          </p:cNvPr>
          <p:cNvPicPr>
            <a:picLocks noGrp="1" noChangeAspect="1"/>
          </p:cNvPicPr>
          <p:nvPr>
            <p:ph type="pic" sz="quarter" idx="19"/>
          </p:nvPr>
        </p:nvPicPr>
        <p:blipFill rotWithShape="1">
          <a:blip r:embed="rId2">
            <a:extLst>
              <a:ext uri="{28A0092B-C50C-407E-A947-70E740481C1C}">
                <a14:useLocalDpi xmlns:a14="http://schemas.microsoft.com/office/drawing/2010/main" val="0"/>
              </a:ext>
            </a:extLst>
          </a:blip>
          <a:srcRect/>
          <a:stretch/>
        </p:blipFill>
        <p:spPr>
          <a:xfrm>
            <a:off x="-2" y="1352575"/>
            <a:ext cx="12192002" cy="2289897"/>
          </a:xfrm>
        </p:spPr>
      </p:pic>
      <p:sp>
        <p:nvSpPr>
          <p:cNvPr id="2" name="Slide Number Placeholder 1">
            <a:extLst>
              <a:ext uri="{FF2B5EF4-FFF2-40B4-BE49-F238E27FC236}">
                <a16:creationId xmlns:a16="http://schemas.microsoft.com/office/drawing/2014/main" id="{FAC2D367-2A6E-41FE-A9EA-24FF17BCAA97}"/>
              </a:ext>
            </a:extLst>
          </p:cNvPr>
          <p:cNvSpPr>
            <a:spLocks noGrp="1"/>
          </p:cNvSpPr>
          <p:nvPr>
            <p:ph type="sldNum" sz="quarter" idx="12"/>
          </p:nvPr>
        </p:nvSpPr>
        <p:spPr/>
        <p:txBody>
          <a:bodyPr/>
          <a:lstStyle/>
          <a:p>
            <a:fld id="{C263D6C4-4840-40CC-AC84-17E24B3B7BDE}" type="slidenum">
              <a:rPr lang="en-US" smtClean="0"/>
              <a:pPr/>
              <a:t>11</a:t>
            </a:fld>
            <a:endParaRPr lang="en-US" dirty="0"/>
          </a:p>
        </p:txBody>
      </p:sp>
      <p:pic>
        <p:nvPicPr>
          <p:cNvPr id="5" name="Picture 4">
            <a:extLst>
              <a:ext uri="{FF2B5EF4-FFF2-40B4-BE49-F238E27FC236}">
                <a16:creationId xmlns:a16="http://schemas.microsoft.com/office/drawing/2014/main" id="{ECD73CC8-63CC-BD87-E5A3-07A4530298E8}"/>
              </a:ext>
            </a:extLst>
          </p:cNvPr>
          <p:cNvPicPr>
            <a:picLocks noChangeAspect="1"/>
          </p:cNvPicPr>
          <p:nvPr/>
        </p:nvPicPr>
        <p:blipFill>
          <a:blip r:embed="rId3"/>
          <a:stretch>
            <a:fillRect/>
          </a:stretch>
        </p:blipFill>
        <p:spPr>
          <a:xfrm>
            <a:off x="662474" y="1352575"/>
            <a:ext cx="10996126" cy="5113538"/>
          </a:xfrm>
          <a:prstGeom prst="rect">
            <a:avLst/>
          </a:prstGeom>
          <a:ln w="28575">
            <a:solidFill>
              <a:schemeClr val="tx1"/>
            </a:solidFill>
          </a:ln>
        </p:spPr>
      </p:pic>
    </p:spTree>
    <p:extLst>
      <p:ext uri="{BB962C8B-B14F-4D97-AF65-F5344CB8AC3E}">
        <p14:creationId xmlns:p14="http://schemas.microsoft.com/office/powerpoint/2010/main" val="663103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a:xfrm>
            <a:off x="444500" y="542925"/>
            <a:ext cx="11214100" cy="701731"/>
          </a:xfrm>
        </p:spPr>
        <p:txBody>
          <a:bodyPr/>
          <a:lstStyle/>
          <a:p>
            <a:r>
              <a:rPr lang="en-US" sz="4400" dirty="0">
                <a:latin typeface="Bahnschrift Light SemiCondensed" panose="020B0502040204020203" pitchFamily="34" charset="0"/>
              </a:rPr>
              <a:t>Fixed Probability Community Evolution</a:t>
            </a:r>
            <a:endParaRPr lang="en-US" sz="4400" dirty="0"/>
          </a:p>
        </p:txBody>
      </p:sp>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12</a:t>
            </a:fld>
            <a:endParaRPr lang="en-US"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4DCEA34-6A47-98FB-7C21-0B1F1BD88720}"/>
                  </a:ext>
                </a:extLst>
              </p:cNvPr>
              <p:cNvSpPr txBox="1"/>
              <p:nvPr/>
            </p:nvSpPr>
            <p:spPr>
              <a:xfrm>
                <a:off x="531845" y="1670180"/>
                <a:ext cx="10590245" cy="1631216"/>
              </a:xfrm>
              <a:prstGeom prst="rect">
                <a:avLst/>
              </a:prstGeom>
              <a:noFill/>
            </p:spPr>
            <p:txBody>
              <a:bodyPr wrap="square" rtlCol="0">
                <a:spAutoFit/>
              </a:bodyPr>
              <a:lstStyle/>
              <a:p>
                <a:r>
                  <a:rPr lang="en-US" sz="2000" dirty="0">
                    <a:solidFill>
                      <a:schemeClr val="bg1"/>
                    </a:solidFill>
                  </a:rPr>
                  <a:t>So even after starting with a symmetric population from the plot and table it is clear that as </a:t>
                </a:r>
                <a14:m>
                  <m:oMath xmlns:m="http://schemas.openxmlformats.org/officeDocument/2006/math">
                    <m:r>
                      <a:rPr lang="en-US" sz="2000" b="0" i="1" smtClean="0">
                        <a:solidFill>
                          <a:schemeClr val="bg1"/>
                        </a:solidFill>
                        <a:latin typeface="Cambria Math" panose="02040503050406030204" pitchFamily="18" charset="0"/>
                      </a:rPr>
                      <m:t>𝑡</m:t>
                    </m:r>
                    <m:r>
                      <a:rPr lang="en-US" sz="2000" b="0" i="1" smtClean="0">
                        <a:solidFill>
                          <a:schemeClr val="bg1"/>
                        </a:solidFill>
                        <a:latin typeface="Cambria Math" panose="02040503050406030204" pitchFamily="18" charset="0"/>
                      </a:rPr>
                      <m:t> →∞</m:t>
                    </m:r>
                  </m:oMath>
                </a14:m>
                <a:r>
                  <a:rPr lang="en-US" sz="2000" dirty="0">
                    <a:solidFill>
                      <a:schemeClr val="bg1"/>
                    </a:solidFill>
                  </a:rPr>
                  <a:t> the limiting proportion does not converge to a particular value. Rather it is very random in nature. Even from the trajectory given below it is clear that all proportions are very close to 0.2, but they exactly do not converge. Rather they oscillate between a particular band.</a:t>
                </a:r>
                <a:endParaRPr lang="en-IN" sz="2000" dirty="0">
                  <a:solidFill>
                    <a:schemeClr val="bg1"/>
                  </a:solidFill>
                </a:endParaRPr>
              </a:p>
            </p:txBody>
          </p:sp>
        </mc:Choice>
        <mc:Fallback xmlns="">
          <p:sp>
            <p:nvSpPr>
              <p:cNvPr id="3" name="TextBox 2">
                <a:extLst>
                  <a:ext uri="{FF2B5EF4-FFF2-40B4-BE49-F238E27FC236}">
                    <a16:creationId xmlns:a16="http://schemas.microsoft.com/office/drawing/2014/main" id="{64DCEA34-6A47-98FB-7C21-0B1F1BD88720}"/>
                  </a:ext>
                </a:extLst>
              </p:cNvPr>
              <p:cNvSpPr txBox="1">
                <a:spLocks noRot="1" noChangeAspect="1" noMove="1" noResize="1" noEditPoints="1" noAdjustHandles="1" noChangeArrowheads="1" noChangeShapeType="1" noTextEdit="1"/>
              </p:cNvSpPr>
              <p:nvPr/>
            </p:nvSpPr>
            <p:spPr>
              <a:xfrm>
                <a:off x="531845" y="1670180"/>
                <a:ext cx="10590245" cy="1631216"/>
              </a:xfrm>
              <a:prstGeom prst="rect">
                <a:avLst/>
              </a:prstGeom>
              <a:blipFill>
                <a:blip r:embed="rId2"/>
                <a:stretch>
                  <a:fillRect l="-576" t="-1866" r="-1036" b="-5970"/>
                </a:stretch>
              </a:blipFill>
            </p:spPr>
            <p:txBody>
              <a:bodyPr/>
              <a:lstStyle/>
              <a:p>
                <a:r>
                  <a:rPr lang="en-IN">
                    <a:noFill/>
                  </a:rPr>
                  <a:t> </a:t>
                </a:r>
              </a:p>
            </p:txBody>
          </p:sp>
        </mc:Fallback>
      </mc:AlternateContent>
    </p:spTree>
    <p:extLst>
      <p:ext uri="{BB962C8B-B14F-4D97-AF65-F5344CB8AC3E}">
        <p14:creationId xmlns:p14="http://schemas.microsoft.com/office/powerpoint/2010/main" val="106542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a:xfrm>
            <a:off x="444500" y="542925"/>
            <a:ext cx="11214100" cy="701731"/>
          </a:xfrm>
        </p:spPr>
        <p:txBody>
          <a:bodyPr/>
          <a:lstStyle/>
          <a:p>
            <a:r>
              <a:rPr lang="en-IN" sz="4400" dirty="0">
                <a:latin typeface="Bahnschrift Light SemiCondensed" panose="020B0502040204020203" pitchFamily="34" charset="0"/>
              </a:rPr>
              <a:t>Graph Based Community Evolution </a:t>
            </a:r>
            <a:endParaRPr lang="en-US" sz="4400" dirty="0">
              <a:latin typeface="Bahnschrift Light SemiCondensed" panose="020B0502040204020203" pitchFamily="34" charset="0"/>
            </a:endParaRPr>
          </a:p>
        </p:txBody>
      </p:sp>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13</a:t>
            </a:fld>
            <a:endParaRPr lang="en-US"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A4EFA32-7589-4F06-200D-3BCF54402614}"/>
                  </a:ext>
                </a:extLst>
              </p:cNvPr>
              <p:cNvSpPr txBox="1"/>
              <p:nvPr/>
            </p:nvSpPr>
            <p:spPr>
              <a:xfrm>
                <a:off x="444500" y="1540042"/>
                <a:ext cx="10807700" cy="3881897"/>
              </a:xfrm>
              <a:prstGeom prst="rect">
                <a:avLst/>
              </a:prstGeom>
              <a:noFill/>
            </p:spPr>
            <p:txBody>
              <a:bodyPr wrap="square" rtlCol="0">
                <a:spAutoFit/>
              </a:bodyPr>
              <a:lstStyle/>
              <a:p>
                <a:pPr marL="342900" indent="-342900">
                  <a:buFont typeface="Wingdings" panose="05000000000000000000" pitchFamily="2" charset="2"/>
                  <a:buChar char="q"/>
                </a:pPr>
                <a:r>
                  <a:rPr lang="en-US" sz="2000" dirty="0">
                    <a:solidFill>
                      <a:schemeClr val="bg1"/>
                    </a:solidFill>
                  </a:rPr>
                  <a:t>Define a graph </a:t>
                </a:r>
                <a14:m>
                  <m:oMath xmlns:m="http://schemas.openxmlformats.org/officeDocument/2006/math">
                    <m:r>
                      <m:rPr>
                        <m:sty m:val="p"/>
                      </m:rPr>
                      <a:rPr lang="en-US" sz="2000" b="0" i="1" smtClean="0">
                        <a:solidFill>
                          <a:schemeClr val="bg1"/>
                        </a:solidFill>
                        <a:latin typeface="Cambria Math" panose="02040503050406030204" pitchFamily="18" charset="0"/>
                      </a:rPr>
                      <m:t>G</m:t>
                    </m:r>
                    <m:r>
                      <a:rPr lang="en-US" sz="2000" b="0" i="1" smtClean="0">
                        <a:solidFill>
                          <a:schemeClr val="bg1"/>
                        </a:solidFill>
                        <a:latin typeface="Cambria Math" panose="02040503050406030204" pitchFamily="18" charset="0"/>
                      </a:rPr>
                      <m:t>= (</m:t>
                    </m:r>
                    <m:r>
                      <m:rPr>
                        <m:sty m:val="p"/>
                      </m:rPr>
                      <a:rPr lang="en-US" sz="2000" b="0" i="1" smtClean="0">
                        <a:solidFill>
                          <a:schemeClr val="bg1"/>
                        </a:solidFill>
                        <a:latin typeface="Cambria Math" panose="02040503050406030204" pitchFamily="18" charset="0"/>
                      </a:rPr>
                      <m:t>V</m:t>
                    </m:r>
                    <m:r>
                      <a:rPr lang="en-US" sz="2000" b="0" i="1" smtClean="0">
                        <a:solidFill>
                          <a:schemeClr val="bg1"/>
                        </a:solidFill>
                        <a:latin typeface="Cambria Math" panose="02040503050406030204" pitchFamily="18" charset="0"/>
                      </a:rPr>
                      <m:t>,</m:t>
                    </m:r>
                    <m:r>
                      <m:rPr>
                        <m:sty m:val="p"/>
                      </m:rPr>
                      <a:rPr lang="en-US" sz="2000" b="0" i="1" smtClean="0">
                        <a:solidFill>
                          <a:schemeClr val="bg1"/>
                        </a:solidFill>
                        <a:latin typeface="Cambria Math" panose="02040503050406030204" pitchFamily="18" charset="0"/>
                      </a:rPr>
                      <m:t>E</m:t>
                    </m:r>
                    <m:r>
                      <a:rPr lang="en-US" sz="2000" b="0" i="1" smtClean="0">
                        <a:solidFill>
                          <a:schemeClr val="bg1"/>
                        </a:solidFill>
                        <a:latin typeface="Cambria Math" panose="02040503050406030204" pitchFamily="18" charset="0"/>
                      </a:rPr>
                      <m:t>)</m:t>
                    </m:r>
                    <m:r>
                      <a:rPr lang="en-US" sz="2000" b="0" i="0" smtClean="0">
                        <a:solidFill>
                          <a:schemeClr val="bg1"/>
                        </a:solidFill>
                        <a:latin typeface="Cambria Math" panose="02040503050406030204" pitchFamily="18" charset="0"/>
                      </a:rPr>
                      <m:t> </m:t>
                    </m:r>
                  </m:oMath>
                </a14:m>
                <a:r>
                  <a:rPr lang="en-IN" sz="2000" dirty="0">
                    <a:solidFill>
                      <a:schemeClr val="bg1"/>
                    </a:solidFill>
                  </a:rPr>
                  <a:t> where </a:t>
                </a:r>
                <a14:m>
                  <m:oMath xmlns:m="http://schemas.openxmlformats.org/officeDocument/2006/math">
                    <m:r>
                      <m:rPr>
                        <m:sty m:val="p"/>
                      </m:rPr>
                      <a:rPr lang="en-US" sz="2000" b="0" i="1" smtClean="0">
                        <a:solidFill>
                          <a:schemeClr val="bg1"/>
                        </a:solidFill>
                        <a:latin typeface="Cambria Math" panose="02040503050406030204" pitchFamily="18" charset="0"/>
                      </a:rPr>
                      <m:t>V</m:t>
                    </m:r>
                    <m:r>
                      <a:rPr lang="en-US" sz="2000" b="0" i="1" smtClean="0">
                        <a:solidFill>
                          <a:schemeClr val="bg1"/>
                        </a:solidFill>
                        <a:latin typeface="Cambria Math" panose="02040503050406030204" pitchFamily="18" charset="0"/>
                      </a:rPr>
                      <m:t>={1,2,..,</m:t>
                    </m:r>
                    <m:r>
                      <m:rPr>
                        <m:sty m:val="p"/>
                      </m:rPr>
                      <a:rPr lang="en-US" sz="2000" b="0" i="1" smtClean="0">
                        <a:solidFill>
                          <a:schemeClr val="bg1"/>
                        </a:solidFill>
                        <a:latin typeface="Cambria Math" panose="02040503050406030204" pitchFamily="18" charset="0"/>
                      </a:rPr>
                      <m:t>k</m:t>
                    </m:r>
                    <m:r>
                      <a:rPr lang="en-US" sz="2000" b="0" i="1" smtClean="0">
                        <a:solidFill>
                          <a:schemeClr val="bg1"/>
                        </a:solidFill>
                        <a:latin typeface="Cambria Math" panose="02040503050406030204" pitchFamily="18" charset="0"/>
                      </a:rPr>
                      <m:t>}.</m:t>
                    </m:r>
                  </m:oMath>
                </a14:m>
                <a:r>
                  <a:rPr lang="en-IN" sz="2000" dirty="0">
                    <a:solidFill>
                      <a:schemeClr val="bg1"/>
                    </a:solidFill>
                  </a:rPr>
                  <a:t> This is a finite graph where each and every vertex are connected to each other. </a:t>
                </a:r>
                <a14:m>
                  <m:oMath xmlns:m="http://schemas.openxmlformats.org/officeDocument/2006/math">
                    <m:r>
                      <a:rPr lang="en-US" sz="2000" b="0" i="1" smtClean="0">
                        <a:solidFill>
                          <a:schemeClr val="bg1"/>
                        </a:solidFill>
                        <a:latin typeface="Cambria Math" panose="02040503050406030204" pitchFamily="18" charset="0"/>
                      </a:rPr>
                      <m:t>(</m:t>
                    </m:r>
                    <m:r>
                      <m:rPr>
                        <m:sty m:val="p"/>
                      </m:rPr>
                      <a:rPr lang="en-US" sz="2000" b="0" i="1" smtClean="0">
                        <a:solidFill>
                          <a:schemeClr val="bg1"/>
                        </a:solidFill>
                        <a:latin typeface="Cambria Math" panose="02040503050406030204" pitchFamily="18" charset="0"/>
                      </a:rPr>
                      <m:t>j</m:t>
                    </m:r>
                    <m:r>
                      <a:rPr lang="en-US" sz="2000" b="0" i="1" smtClean="0">
                        <a:solidFill>
                          <a:schemeClr val="bg1"/>
                        </a:solidFill>
                        <a:latin typeface="Cambria Math" panose="02040503050406030204" pitchFamily="18" charset="0"/>
                      </a:rPr>
                      <m:t>`,</m:t>
                    </m:r>
                    <m:r>
                      <m:rPr>
                        <m:sty m:val="p"/>
                      </m:rPr>
                      <a:rPr lang="en-US" sz="2000" b="0" i="1" smtClean="0">
                        <a:solidFill>
                          <a:schemeClr val="bg1"/>
                        </a:solidFill>
                        <a:latin typeface="Cambria Math" panose="02040503050406030204" pitchFamily="18" charset="0"/>
                      </a:rPr>
                      <m:t>j</m:t>
                    </m:r>
                    <m:r>
                      <a:rPr lang="en-US" sz="2000" b="0" i="1" smtClean="0">
                        <a:solidFill>
                          <a:schemeClr val="bg1"/>
                        </a:solidFill>
                        <a:latin typeface="Cambria Math" panose="02040503050406030204" pitchFamily="18" charset="0"/>
                      </a:rPr>
                      <m:t>) ∈ </m:t>
                    </m:r>
                    <m:r>
                      <m:rPr>
                        <m:sty m:val="p"/>
                      </m:rPr>
                      <a:rPr lang="en-US" sz="2000" b="0" i="1" smtClean="0">
                        <a:solidFill>
                          <a:schemeClr val="bg1"/>
                        </a:solidFill>
                        <a:latin typeface="Cambria Math" panose="02040503050406030204" pitchFamily="18" charset="0"/>
                      </a:rPr>
                      <m:t>E</m:t>
                    </m:r>
                  </m:oMath>
                </a14:m>
                <a:r>
                  <a:rPr lang="en-IN" sz="2000" dirty="0">
                    <a:solidFill>
                      <a:schemeClr val="bg1"/>
                    </a:solidFill>
                  </a:rPr>
                  <a:t> where </a:t>
                </a:r>
                <a14:m>
                  <m:oMath xmlns:m="http://schemas.openxmlformats.org/officeDocument/2006/math">
                    <m:r>
                      <m:rPr>
                        <m:sty m:val="p"/>
                      </m:rPr>
                      <a:rPr lang="en-US" sz="2000" b="0" i="1" smtClean="0">
                        <a:solidFill>
                          <a:schemeClr val="bg1"/>
                        </a:solidFill>
                        <a:latin typeface="Cambria Math" panose="02040503050406030204" pitchFamily="18" charset="0"/>
                      </a:rPr>
                      <m:t>j</m:t>
                    </m:r>
                    <m:r>
                      <a:rPr lang="en-US" sz="2000" b="0" i="1" smtClean="0">
                        <a:solidFill>
                          <a:schemeClr val="bg1"/>
                        </a:solidFill>
                        <a:latin typeface="Cambria Math" panose="02040503050406030204" pitchFamily="18" charset="0"/>
                      </a:rPr>
                      <m:t>`,</m:t>
                    </m:r>
                    <m:r>
                      <m:rPr>
                        <m:sty m:val="p"/>
                      </m:rPr>
                      <a:rPr lang="en-US" sz="2000" b="0" i="1" smtClean="0">
                        <a:solidFill>
                          <a:schemeClr val="bg1"/>
                        </a:solidFill>
                        <a:latin typeface="Cambria Math" panose="02040503050406030204" pitchFamily="18" charset="0"/>
                      </a:rPr>
                      <m:t>j</m:t>
                    </m:r>
                    <m:r>
                      <a:rPr lang="en-US" sz="2000" b="0" i="1" smtClean="0">
                        <a:solidFill>
                          <a:schemeClr val="bg1"/>
                        </a:solidFill>
                        <a:latin typeface="Cambria Math" panose="02040503050406030204" pitchFamily="18" charset="0"/>
                      </a:rPr>
                      <m:t>=1(1)</m:t>
                    </m:r>
                    <m:r>
                      <m:rPr>
                        <m:sty m:val="p"/>
                      </m:rPr>
                      <a:rPr lang="en-US" sz="2000" b="0" i="1" smtClean="0">
                        <a:solidFill>
                          <a:schemeClr val="bg1"/>
                        </a:solidFill>
                        <a:latin typeface="Cambria Math" panose="02040503050406030204" pitchFamily="18" charset="0"/>
                      </a:rPr>
                      <m:t>l</m:t>
                    </m:r>
                  </m:oMath>
                </a14:m>
                <a:r>
                  <a:rPr lang="en-IN" sz="2000" dirty="0">
                    <a:solidFill>
                      <a:schemeClr val="bg1"/>
                    </a:solidFill>
                  </a:rPr>
                  <a:t>. </a:t>
                </a:r>
                <a:r>
                  <a:rPr lang="en-US" sz="2000" dirty="0">
                    <a:solidFill>
                      <a:schemeClr val="bg1"/>
                    </a:solidFill>
                  </a:rPr>
                  <a:t>W(e, 0) = 1 for all e </a:t>
                </a:r>
                <a14:m>
                  <m:oMath xmlns:m="http://schemas.openxmlformats.org/officeDocument/2006/math">
                    <m:r>
                      <a:rPr lang="en-US" sz="2000" b="0" i="1" smtClean="0">
                        <a:solidFill>
                          <a:schemeClr val="bg1"/>
                        </a:solidFill>
                        <a:latin typeface="Cambria Math" panose="02040503050406030204" pitchFamily="18" charset="0"/>
                      </a:rPr>
                      <m:t>∈</m:t>
                    </m:r>
                  </m:oMath>
                </a14:m>
                <a:r>
                  <a:rPr lang="en-US" sz="2000" dirty="0">
                    <a:solidFill>
                      <a:schemeClr val="bg1"/>
                    </a:solidFill>
                  </a:rPr>
                  <a:t> E, implying initially all communities are equally likely to join. We start the random walk at </a:t>
                </a:r>
                <a:r>
                  <a:rPr lang="en-US" sz="2000" dirty="0" err="1">
                    <a:solidFill>
                      <a:schemeClr val="bg1"/>
                    </a:solidFill>
                  </a:rPr>
                  <a:t>i</a:t>
                </a:r>
                <a:r>
                  <a:rPr lang="en-US" sz="2000" dirty="0">
                    <a:solidFill>
                      <a:schemeClr val="bg1"/>
                    </a:solidFill>
                  </a:rPr>
                  <a:t>  , note that at t = 0 no person joins any of the communities. Suppose </a:t>
                </a:r>
                <a14:m>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𝐿</m:t>
                        </m:r>
                      </m:e>
                      <m:sub>
                        <m:r>
                          <a:rPr lang="en-US" sz="2000" b="0" i="1" smtClean="0">
                            <a:solidFill>
                              <a:schemeClr val="bg1"/>
                            </a:solidFill>
                            <a:latin typeface="Cambria Math" panose="02040503050406030204" pitchFamily="18" charset="0"/>
                          </a:rPr>
                          <m:t>𝑡</m:t>
                        </m:r>
                      </m:sub>
                    </m:sSub>
                  </m:oMath>
                </a14:m>
                <a:r>
                  <a:rPr lang="en-US" sz="2000" dirty="0">
                    <a:solidFill>
                      <a:schemeClr val="bg1"/>
                    </a:solidFill>
                  </a:rPr>
                  <a:t> denotes the position of random walk at time t. If at time point t the random walk is on vertex j then we say that at t, one person joins </a:t>
                </a:r>
                <a14:m>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𝑐</m:t>
                        </m:r>
                      </m:e>
                      <m:sub>
                        <m:r>
                          <a:rPr lang="en-US" sz="2000" b="0" i="1" smtClean="0">
                            <a:solidFill>
                              <a:schemeClr val="bg1"/>
                            </a:solidFill>
                            <a:latin typeface="Cambria Math" panose="02040503050406030204" pitchFamily="18" charset="0"/>
                          </a:rPr>
                          <m:t>𝑗</m:t>
                        </m:r>
                      </m:sub>
                    </m:sSub>
                  </m:oMath>
                </a14:m>
                <a:r>
                  <a:rPr lang="en-US" sz="2000" dirty="0">
                    <a:solidFill>
                      <a:schemeClr val="bg1"/>
                    </a:solidFill>
                  </a:rPr>
                  <a:t> . The probability of transition is given by,</a:t>
                </a:r>
              </a:p>
              <a:p>
                <a:pPr/>
                <a14:m>
                  <m:oMathPara xmlns:m="http://schemas.openxmlformats.org/officeDocument/2006/math">
                    <m:oMathParaPr>
                      <m:jc m:val="centerGroup"/>
                    </m:oMathParaPr>
                    <m:oMath xmlns:m="http://schemas.openxmlformats.org/officeDocument/2006/math">
                      <m:r>
                        <a:rPr lang="en-IN" sz="2000" i="1">
                          <a:solidFill>
                            <a:schemeClr val="bg1"/>
                          </a:solidFill>
                          <a:latin typeface="Cambria Math" panose="02040503050406030204" pitchFamily="18" charset="0"/>
                        </a:rPr>
                        <m:t>𝑃</m:t>
                      </m:r>
                      <m:d>
                        <m:dPr>
                          <m:ctrlPr>
                            <a:rPr lang="en-IN" sz="2000" i="1">
                              <a:solidFill>
                                <a:schemeClr val="bg1"/>
                              </a:solidFill>
                              <a:latin typeface="Cambria Math" panose="02040503050406030204" pitchFamily="18" charset="0"/>
                            </a:rPr>
                          </m:ctrlPr>
                        </m:dPr>
                        <m:e>
                          <m:sSub>
                            <m:sSubPr>
                              <m:ctrlPr>
                                <a:rPr lang="en-IN" sz="2000" i="1">
                                  <a:solidFill>
                                    <a:schemeClr val="bg1"/>
                                  </a:solidFill>
                                  <a:latin typeface="Cambria Math" panose="02040503050406030204" pitchFamily="18" charset="0"/>
                                </a:rPr>
                              </m:ctrlPr>
                            </m:sSubPr>
                            <m:e>
                              <m:r>
                                <a:rPr lang="en-IN" sz="2000" i="1">
                                  <a:solidFill>
                                    <a:schemeClr val="bg1"/>
                                  </a:solidFill>
                                  <a:latin typeface="Cambria Math" panose="02040503050406030204" pitchFamily="18" charset="0"/>
                                </a:rPr>
                                <m:t>𝐿</m:t>
                              </m:r>
                            </m:e>
                            <m:sub>
                              <m:r>
                                <a:rPr lang="en-IN" sz="2000" i="1">
                                  <a:solidFill>
                                    <a:schemeClr val="bg1"/>
                                  </a:solidFill>
                                  <a:latin typeface="Cambria Math" panose="02040503050406030204" pitchFamily="18" charset="0"/>
                                </a:rPr>
                                <m:t>𝑡</m:t>
                              </m:r>
                              <m:r>
                                <a:rPr lang="en-IN" sz="2000" i="1">
                                  <a:solidFill>
                                    <a:schemeClr val="bg1"/>
                                  </a:solidFill>
                                  <a:latin typeface="Cambria Math" panose="02040503050406030204" pitchFamily="18" charset="0"/>
                                </a:rPr>
                                <m:t>+1</m:t>
                              </m:r>
                            </m:sub>
                          </m:sSub>
                          <m:r>
                            <a:rPr lang="en-IN" sz="2000" i="1">
                              <a:solidFill>
                                <a:schemeClr val="bg1"/>
                              </a:solidFill>
                              <a:latin typeface="Cambria Math" panose="02040503050406030204" pitchFamily="18" charset="0"/>
                            </a:rPr>
                            <m:t>=</m:t>
                          </m:r>
                          <m:r>
                            <a:rPr lang="en-IN" sz="2000" i="1">
                              <a:solidFill>
                                <a:schemeClr val="bg1"/>
                              </a:solidFill>
                              <a:latin typeface="Cambria Math" panose="02040503050406030204" pitchFamily="18" charset="0"/>
                            </a:rPr>
                            <m:t>𝑗</m:t>
                          </m:r>
                        </m:e>
                        <m:e>
                          <m:sSub>
                            <m:sSubPr>
                              <m:ctrlPr>
                                <a:rPr lang="en-IN" sz="2000" i="1">
                                  <a:solidFill>
                                    <a:schemeClr val="bg1"/>
                                  </a:solidFill>
                                  <a:latin typeface="Cambria Math" panose="02040503050406030204" pitchFamily="18" charset="0"/>
                                </a:rPr>
                              </m:ctrlPr>
                            </m:sSubPr>
                            <m:e>
                              <m:r>
                                <a:rPr lang="en-IN" sz="2000" i="1">
                                  <a:solidFill>
                                    <a:schemeClr val="bg1"/>
                                  </a:solidFill>
                                  <a:latin typeface="Cambria Math" panose="02040503050406030204" pitchFamily="18" charset="0"/>
                                </a:rPr>
                                <m:t>ℱ</m:t>
                              </m:r>
                            </m:e>
                            <m:sub>
                              <m:r>
                                <a:rPr lang="en-IN" sz="2000" i="1">
                                  <a:solidFill>
                                    <a:schemeClr val="bg1"/>
                                  </a:solidFill>
                                  <a:latin typeface="Cambria Math" panose="02040503050406030204" pitchFamily="18" charset="0"/>
                                </a:rPr>
                                <m:t>𝓉</m:t>
                              </m:r>
                            </m:sub>
                          </m:sSub>
                        </m:e>
                      </m:d>
                      <m:r>
                        <a:rPr lang="en-IN" sz="2000" i="1">
                          <a:solidFill>
                            <a:schemeClr val="bg1"/>
                          </a:solidFill>
                          <a:latin typeface="Cambria Math" panose="02040503050406030204" pitchFamily="18" charset="0"/>
                        </a:rPr>
                        <m:t>=</m:t>
                      </m:r>
                      <m:f>
                        <m:fPr>
                          <m:ctrlPr>
                            <a:rPr lang="en-IN" sz="2000" i="1">
                              <a:solidFill>
                                <a:schemeClr val="bg1"/>
                              </a:solidFill>
                              <a:latin typeface="Cambria Math" panose="02040503050406030204" pitchFamily="18" charset="0"/>
                            </a:rPr>
                          </m:ctrlPr>
                        </m:fPr>
                        <m:num>
                          <m:r>
                            <a:rPr lang="en-IN" sz="2000" i="1">
                              <a:solidFill>
                                <a:schemeClr val="bg1"/>
                              </a:solidFill>
                              <a:latin typeface="Cambria Math" panose="02040503050406030204" pitchFamily="18" charset="0"/>
                            </a:rPr>
                            <m:t>𝑊</m:t>
                          </m:r>
                          <m:d>
                            <m:dPr>
                              <m:ctrlPr>
                                <a:rPr lang="en-IN" sz="2000" i="1">
                                  <a:solidFill>
                                    <a:schemeClr val="bg1"/>
                                  </a:solidFill>
                                  <a:latin typeface="Cambria Math" panose="02040503050406030204" pitchFamily="18" charset="0"/>
                                </a:rPr>
                              </m:ctrlPr>
                            </m:dPr>
                            <m:e>
                              <m:r>
                                <m:rPr>
                                  <m:lit/>
                                </m:rPr>
                                <a:rPr lang="en-IN" sz="2000" i="1">
                                  <a:solidFill>
                                    <a:schemeClr val="bg1"/>
                                  </a:solidFill>
                                  <a:latin typeface="Cambria Math" panose="02040503050406030204" pitchFamily="18" charset="0"/>
                                </a:rPr>
                                <m:t>{</m:t>
                              </m:r>
                              <m:sSub>
                                <m:sSubPr>
                                  <m:ctrlPr>
                                    <a:rPr lang="en-IN" sz="2000" i="1">
                                      <a:solidFill>
                                        <a:schemeClr val="bg1"/>
                                      </a:solidFill>
                                      <a:latin typeface="Cambria Math" panose="02040503050406030204" pitchFamily="18" charset="0"/>
                                    </a:rPr>
                                  </m:ctrlPr>
                                </m:sSubPr>
                                <m:e>
                                  <m:r>
                                    <a:rPr lang="en-IN" sz="2000" i="1">
                                      <a:solidFill>
                                        <a:schemeClr val="bg1"/>
                                      </a:solidFill>
                                      <a:latin typeface="Cambria Math" panose="02040503050406030204" pitchFamily="18" charset="0"/>
                                    </a:rPr>
                                    <m:t>𝐿</m:t>
                                  </m:r>
                                </m:e>
                                <m:sub>
                                  <m:r>
                                    <a:rPr lang="en-IN" sz="2000" i="1">
                                      <a:solidFill>
                                        <a:schemeClr val="bg1"/>
                                      </a:solidFill>
                                      <a:latin typeface="Cambria Math" panose="02040503050406030204" pitchFamily="18" charset="0"/>
                                    </a:rPr>
                                    <m:t>𝑡</m:t>
                                  </m:r>
                                </m:sub>
                              </m:sSub>
                              <m:r>
                                <a:rPr lang="en-IN" sz="2000" i="1">
                                  <a:solidFill>
                                    <a:schemeClr val="bg1"/>
                                  </a:solidFill>
                                  <a:latin typeface="Cambria Math" panose="02040503050406030204" pitchFamily="18" charset="0"/>
                                </a:rPr>
                                <m:t>,</m:t>
                              </m:r>
                              <m:r>
                                <a:rPr lang="en-IN" sz="2000" i="1">
                                  <a:solidFill>
                                    <a:schemeClr val="bg1"/>
                                  </a:solidFill>
                                  <a:latin typeface="Cambria Math" panose="02040503050406030204" pitchFamily="18" charset="0"/>
                                </a:rPr>
                                <m:t>𝑗</m:t>
                              </m:r>
                              <m:r>
                                <m:rPr>
                                  <m:lit/>
                                </m:rPr>
                                <a:rPr lang="en-IN" sz="2000" i="1">
                                  <a:solidFill>
                                    <a:schemeClr val="bg1"/>
                                  </a:solidFill>
                                  <a:latin typeface="Cambria Math" panose="02040503050406030204" pitchFamily="18" charset="0"/>
                                </a:rPr>
                                <m:t>}</m:t>
                              </m:r>
                              <m:r>
                                <a:rPr lang="en-IN" sz="2000" i="1">
                                  <a:solidFill>
                                    <a:schemeClr val="bg1"/>
                                  </a:solidFill>
                                  <a:latin typeface="Cambria Math" panose="02040503050406030204" pitchFamily="18" charset="0"/>
                                </a:rPr>
                                <m:t>,</m:t>
                              </m:r>
                              <m:r>
                                <a:rPr lang="en-IN" sz="2000" i="1">
                                  <a:solidFill>
                                    <a:schemeClr val="bg1"/>
                                  </a:solidFill>
                                  <a:latin typeface="Cambria Math" panose="02040503050406030204" pitchFamily="18" charset="0"/>
                                </a:rPr>
                                <m:t>𝑡</m:t>
                              </m:r>
                            </m:e>
                          </m:d>
                        </m:num>
                        <m:den>
                          <m:nary>
                            <m:naryPr>
                              <m:chr m:val="∑"/>
                              <m:supHide m:val="on"/>
                              <m:ctrlPr>
                                <a:rPr lang="en-IN" sz="2000" i="1">
                                  <a:solidFill>
                                    <a:schemeClr val="bg1"/>
                                  </a:solidFill>
                                  <a:latin typeface="Cambria Math" panose="02040503050406030204" pitchFamily="18" charset="0"/>
                                </a:rPr>
                              </m:ctrlPr>
                            </m:naryPr>
                            <m:sub>
                              <m:r>
                                <a:rPr lang="en-IN" sz="2000" i="1">
                                  <a:solidFill>
                                    <a:schemeClr val="bg1"/>
                                  </a:solidFill>
                                  <a:latin typeface="Cambria Math" panose="02040503050406030204" pitchFamily="18" charset="0"/>
                                </a:rPr>
                                <m:t>𝑧</m:t>
                              </m:r>
                            </m:sub>
                            <m:sup/>
                            <m:e>
                              <m:r>
                                <a:rPr lang="en-IN" sz="2000" i="1">
                                  <a:solidFill>
                                    <a:schemeClr val="bg1"/>
                                  </a:solidFill>
                                  <a:latin typeface="Cambria Math" panose="02040503050406030204" pitchFamily="18" charset="0"/>
                                </a:rPr>
                                <m:t>𝑊</m:t>
                              </m:r>
                              <m:d>
                                <m:dPr>
                                  <m:ctrlPr>
                                    <a:rPr lang="en-IN" sz="2000" i="1">
                                      <a:solidFill>
                                        <a:schemeClr val="bg1"/>
                                      </a:solidFill>
                                      <a:latin typeface="Cambria Math" panose="02040503050406030204" pitchFamily="18" charset="0"/>
                                    </a:rPr>
                                  </m:ctrlPr>
                                </m:dPr>
                                <m:e>
                                  <m:r>
                                    <m:rPr>
                                      <m:lit/>
                                    </m:rPr>
                                    <a:rPr lang="en-IN" sz="2000" i="1">
                                      <a:solidFill>
                                        <a:schemeClr val="bg1"/>
                                      </a:solidFill>
                                      <a:latin typeface="Cambria Math" panose="02040503050406030204" pitchFamily="18" charset="0"/>
                                    </a:rPr>
                                    <m:t>{</m:t>
                                  </m:r>
                                  <m:sSub>
                                    <m:sSubPr>
                                      <m:ctrlPr>
                                        <a:rPr lang="en-IN" sz="2000" i="1">
                                          <a:solidFill>
                                            <a:schemeClr val="bg1"/>
                                          </a:solidFill>
                                          <a:latin typeface="Cambria Math" panose="02040503050406030204" pitchFamily="18" charset="0"/>
                                        </a:rPr>
                                      </m:ctrlPr>
                                    </m:sSubPr>
                                    <m:e>
                                      <m:r>
                                        <a:rPr lang="en-IN" sz="2000" i="1">
                                          <a:solidFill>
                                            <a:schemeClr val="bg1"/>
                                          </a:solidFill>
                                          <a:latin typeface="Cambria Math" panose="02040503050406030204" pitchFamily="18" charset="0"/>
                                        </a:rPr>
                                        <m:t>𝐿</m:t>
                                      </m:r>
                                    </m:e>
                                    <m:sub>
                                      <m:r>
                                        <a:rPr lang="en-IN" sz="2000" i="1">
                                          <a:solidFill>
                                            <a:schemeClr val="bg1"/>
                                          </a:solidFill>
                                          <a:latin typeface="Cambria Math" panose="02040503050406030204" pitchFamily="18" charset="0"/>
                                        </a:rPr>
                                        <m:t>𝑡</m:t>
                                      </m:r>
                                    </m:sub>
                                  </m:sSub>
                                  <m:r>
                                    <a:rPr lang="en-IN" sz="2000" i="1">
                                      <a:solidFill>
                                        <a:schemeClr val="bg1"/>
                                      </a:solidFill>
                                      <a:latin typeface="Cambria Math" panose="02040503050406030204" pitchFamily="18" charset="0"/>
                                    </a:rPr>
                                    <m:t>,</m:t>
                                  </m:r>
                                  <m:r>
                                    <a:rPr lang="en-IN" sz="2000" i="1">
                                      <a:solidFill>
                                        <a:schemeClr val="bg1"/>
                                      </a:solidFill>
                                      <a:latin typeface="Cambria Math" panose="02040503050406030204" pitchFamily="18" charset="0"/>
                                    </a:rPr>
                                    <m:t>𝑧</m:t>
                                  </m:r>
                                  <m:r>
                                    <m:rPr>
                                      <m:lit/>
                                    </m:rPr>
                                    <a:rPr lang="en-IN" sz="2000" i="1">
                                      <a:solidFill>
                                        <a:schemeClr val="bg1"/>
                                      </a:solidFill>
                                      <a:latin typeface="Cambria Math" panose="02040503050406030204" pitchFamily="18" charset="0"/>
                                    </a:rPr>
                                    <m:t>}</m:t>
                                  </m:r>
                                  <m:r>
                                    <a:rPr lang="en-IN" sz="2000" i="1">
                                      <a:solidFill>
                                        <a:schemeClr val="bg1"/>
                                      </a:solidFill>
                                      <a:latin typeface="Cambria Math" panose="02040503050406030204" pitchFamily="18" charset="0"/>
                                    </a:rPr>
                                    <m:t>,</m:t>
                                  </m:r>
                                  <m:r>
                                    <a:rPr lang="en-IN" sz="2000" i="1">
                                      <a:solidFill>
                                        <a:schemeClr val="bg1"/>
                                      </a:solidFill>
                                      <a:latin typeface="Cambria Math" panose="02040503050406030204" pitchFamily="18" charset="0"/>
                                    </a:rPr>
                                    <m:t>𝑡</m:t>
                                  </m:r>
                                </m:e>
                              </m:d>
                            </m:e>
                          </m:nary>
                        </m:den>
                      </m:f>
                    </m:oMath>
                  </m:oMathPara>
                </a14:m>
                <a:endParaRPr lang="en-IN" sz="2000" dirty="0">
                  <a:solidFill>
                    <a:schemeClr val="bg1"/>
                  </a:solidFill>
                </a:endParaRPr>
              </a:p>
              <a:p>
                <a:r>
                  <a:rPr lang="en-IN" sz="2000" dirty="0">
                    <a:solidFill>
                      <a:schemeClr val="bg1"/>
                    </a:solidFill>
                  </a:rPr>
                  <a:t>With,</a:t>
                </a:r>
              </a:p>
              <a:p>
                <a:pPr/>
                <a14:m>
                  <m:oMathPara xmlns:m="http://schemas.openxmlformats.org/officeDocument/2006/math">
                    <m:oMathParaPr>
                      <m:jc m:val="centerGroup"/>
                    </m:oMathParaPr>
                    <m:oMath xmlns:m="http://schemas.openxmlformats.org/officeDocument/2006/math">
                      <m:r>
                        <a:rPr lang="en-IN" sz="2000" i="1">
                          <a:solidFill>
                            <a:schemeClr val="bg1"/>
                          </a:solidFill>
                          <a:latin typeface="Cambria Math" panose="02040503050406030204" pitchFamily="18" charset="0"/>
                        </a:rPr>
                        <m:t>𝑊</m:t>
                      </m:r>
                      <m:d>
                        <m:dPr>
                          <m:ctrlPr>
                            <a:rPr lang="en-IN" sz="2000" i="1">
                              <a:solidFill>
                                <a:schemeClr val="bg1"/>
                              </a:solidFill>
                              <a:latin typeface="Cambria Math" panose="02040503050406030204" pitchFamily="18" charset="0"/>
                            </a:rPr>
                          </m:ctrlPr>
                        </m:dPr>
                        <m:e>
                          <m:r>
                            <m:rPr>
                              <m:lit/>
                            </m:rPr>
                            <a:rPr lang="en-IN" sz="2000" i="1">
                              <a:solidFill>
                                <a:schemeClr val="bg1"/>
                              </a:solidFill>
                              <a:latin typeface="Cambria Math" panose="02040503050406030204" pitchFamily="18" charset="0"/>
                            </a:rPr>
                            <m:t>{</m:t>
                          </m:r>
                          <m:r>
                            <a:rPr lang="en-IN" sz="2000" i="1">
                              <a:solidFill>
                                <a:schemeClr val="bg1"/>
                              </a:solidFill>
                              <a:latin typeface="Cambria Math" panose="02040503050406030204" pitchFamily="18" charset="0"/>
                            </a:rPr>
                            <m:t>𝑖</m:t>
                          </m:r>
                          <m:r>
                            <a:rPr lang="en-IN" sz="2000" i="1">
                              <a:solidFill>
                                <a:schemeClr val="bg1"/>
                              </a:solidFill>
                              <a:latin typeface="Cambria Math" panose="02040503050406030204" pitchFamily="18" charset="0"/>
                            </a:rPr>
                            <m:t>,</m:t>
                          </m:r>
                          <m:r>
                            <a:rPr lang="en-IN" sz="2000" i="1">
                              <a:solidFill>
                                <a:schemeClr val="bg1"/>
                              </a:solidFill>
                              <a:latin typeface="Cambria Math" panose="02040503050406030204" pitchFamily="18" charset="0"/>
                            </a:rPr>
                            <m:t>𝑗</m:t>
                          </m:r>
                          <m:r>
                            <m:rPr>
                              <m:lit/>
                            </m:rPr>
                            <a:rPr lang="en-IN" sz="2000" i="1">
                              <a:solidFill>
                                <a:schemeClr val="bg1"/>
                              </a:solidFill>
                              <a:latin typeface="Cambria Math" panose="02040503050406030204" pitchFamily="18" charset="0"/>
                            </a:rPr>
                            <m:t>}</m:t>
                          </m:r>
                          <m:r>
                            <a:rPr lang="en-IN" sz="2000" i="1">
                              <a:solidFill>
                                <a:schemeClr val="bg1"/>
                              </a:solidFill>
                              <a:latin typeface="Cambria Math" panose="02040503050406030204" pitchFamily="18" charset="0"/>
                            </a:rPr>
                            <m:t>,</m:t>
                          </m:r>
                          <m:r>
                            <a:rPr lang="en-IN" sz="2000" i="1">
                              <a:solidFill>
                                <a:schemeClr val="bg1"/>
                              </a:solidFill>
                              <a:latin typeface="Cambria Math" panose="02040503050406030204" pitchFamily="18" charset="0"/>
                            </a:rPr>
                            <m:t>𝑡</m:t>
                          </m:r>
                        </m:e>
                      </m:d>
                      <m:r>
                        <a:rPr lang="en-IN" sz="2000" i="1">
                          <a:solidFill>
                            <a:schemeClr val="bg1"/>
                          </a:solidFill>
                          <a:latin typeface="Cambria Math" panose="02040503050406030204" pitchFamily="18" charset="0"/>
                        </a:rPr>
                        <m:t>=</m:t>
                      </m:r>
                      <m:r>
                        <a:rPr lang="en-IN" sz="2000" i="1">
                          <a:solidFill>
                            <a:schemeClr val="bg1"/>
                          </a:solidFill>
                          <a:latin typeface="Cambria Math" panose="02040503050406030204" pitchFamily="18" charset="0"/>
                        </a:rPr>
                        <m:t>𝑊</m:t>
                      </m:r>
                      <m:d>
                        <m:dPr>
                          <m:ctrlPr>
                            <a:rPr lang="en-IN" sz="2000" i="1">
                              <a:solidFill>
                                <a:schemeClr val="bg1"/>
                              </a:solidFill>
                              <a:latin typeface="Cambria Math" panose="02040503050406030204" pitchFamily="18" charset="0"/>
                            </a:rPr>
                          </m:ctrlPr>
                        </m:dPr>
                        <m:e>
                          <m:r>
                            <m:rPr>
                              <m:lit/>
                            </m:rPr>
                            <a:rPr lang="en-IN" sz="2000" i="1">
                              <a:solidFill>
                                <a:schemeClr val="bg1"/>
                              </a:solidFill>
                              <a:latin typeface="Cambria Math" panose="02040503050406030204" pitchFamily="18" charset="0"/>
                            </a:rPr>
                            <m:t>{</m:t>
                          </m:r>
                          <m:r>
                            <a:rPr lang="en-IN" sz="2000" i="1">
                              <a:solidFill>
                                <a:schemeClr val="bg1"/>
                              </a:solidFill>
                              <a:latin typeface="Cambria Math" panose="02040503050406030204" pitchFamily="18" charset="0"/>
                            </a:rPr>
                            <m:t>𝑖</m:t>
                          </m:r>
                          <m:r>
                            <a:rPr lang="en-IN" sz="2000" i="1">
                              <a:solidFill>
                                <a:schemeClr val="bg1"/>
                              </a:solidFill>
                              <a:latin typeface="Cambria Math" panose="02040503050406030204" pitchFamily="18" charset="0"/>
                            </a:rPr>
                            <m:t>,</m:t>
                          </m:r>
                          <m:r>
                            <a:rPr lang="en-IN" sz="2000" i="1">
                              <a:solidFill>
                                <a:schemeClr val="bg1"/>
                              </a:solidFill>
                              <a:latin typeface="Cambria Math" panose="02040503050406030204" pitchFamily="18" charset="0"/>
                            </a:rPr>
                            <m:t>𝑗</m:t>
                          </m:r>
                          <m:r>
                            <m:rPr>
                              <m:lit/>
                            </m:rPr>
                            <a:rPr lang="en-IN" sz="2000" i="1">
                              <a:solidFill>
                                <a:schemeClr val="bg1"/>
                              </a:solidFill>
                              <a:latin typeface="Cambria Math" panose="02040503050406030204" pitchFamily="18" charset="0"/>
                            </a:rPr>
                            <m:t>}</m:t>
                          </m:r>
                          <m:r>
                            <a:rPr lang="en-IN" sz="2000" i="1">
                              <a:solidFill>
                                <a:schemeClr val="bg1"/>
                              </a:solidFill>
                              <a:latin typeface="Cambria Math" panose="02040503050406030204" pitchFamily="18" charset="0"/>
                            </a:rPr>
                            <m:t>,</m:t>
                          </m:r>
                          <m:r>
                            <a:rPr lang="en-IN" sz="2000" i="1">
                              <a:solidFill>
                                <a:schemeClr val="bg1"/>
                              </a:solidFill>
                              <a:latin typeface="Cambria Math" panose="02040503050406030204" pitchFamily="18" charset="0"/>
                            </a:rPr>
                            <m:t>𝑡</m:t>
                          </m:r>
                          <m:r>
                            <a:rPr lang="en-IN" sz="2000" i="1">
                              <a:solidFill>
                                <a:schemeClr val="bg1"/>
                              </a:solidFill>
                              <a:latin typeface="Cambria Math" panose="02040503050406030204" pitchFamily="18" charset="0"/>
                            </a:rPr>
                            <m:t>−1</m:t>
                          </m:r>
                        </m:e>
                      </m:d>
                      <m:r>
                        <a:rPr lang="en-IN" sz="2000" i="1">
                          <a:solidFill>
                            <a:schemeClr val="bg1"/>
                          </a:solidFill>
                          <a:latin typeface="Cambria Math" panose="02040503050406030204" pitchFamily="18" charset="0"/>
                        </a:rPr>
                        <m:t>+</m:t>
                      </m:r>
                      <m:sSub>
                        <m:sSubPr>
                          <m:ctrlPr>
                            <a:rPr lang="en-IN" sz="2000" i="1">
                              <a:solidFill>
                                <a:schemeClr val="bg1"/>
                              </a:solidFill>
                              <a:latin typeface="Cambria Math" panose="02040503050406030204" pitchFamily="18" charset="0"/>
                            </a:rPr>
                          </m:ctrlPr>
                        </m:sSubPr>
                        <m:e>
                          <m:r>
                            <a:rPr lang="en-IN" sz="2000" i="1">
                              <a:solidFill>
                                <a:schemeClr val="bg1"/>
                              </a:solidFill>
                              <a:latin typeface="Cambria Math" panose="02040503050406030204" pitchFamily="18" charset="0"/>
                            </a:rPr>
                            <m:t>𝐼</m:t>
                          </m:r>
                        </m:e>
                        <m:sub>
                          <m:r>
                            <m:rPr>
                              <m:lit/>
                            </m:rPr>
                            <a:rPr lang="en-IN" sz="2000" i="1">
                              <a:solidFill>
                                <a:schemeClr val="bg1"/>
                              </a:solidFill>
                              <a:latin typeface="Cambria Math" panose="02040503050406030204" pitchFamily="18" charset="0"/>
                            </a:rPr>
                            <m:t>{</m:t>
                          </m:r>
                          <m:d>
                            <m:dPr>
                              <m:ctrlPr>
                                <a:rPr lang="en-IN" sz="2000" i="1">
                                  <a:solidFill>
                                    <a:schemeClr val="bg1"/>
                                  </a:solidFill>
                                  <a:latin typeface="Cambria Math" panose="02040503050406030204" pitchFamily="18" charset="0"/>
                                </a:rPr>
                              </m:ctrlPr>
                            </m:dPr>
                            <m:e>
                              <m:sSub>
                                <m:sSubPr>
                                  <m:ctrlPr>
                                    <a:rPr lang="en-IN" sz="2000" i="1">
                                      <a:solidFill>
                                        <a:schemeClr val="bg1"/>
                                      </a:solidFill>
                                      <a:latin typeface="Cambria Math" panose="02040503050406030204" pitchFamily="18" charset="0"/>
                                    </a:rPr>
                                  </m:ctrlPr>
                                </m:sSubPr>
                                <m:e>
                                  <m:r>
                                    <a:rPr lang="en-IN" sz="2000" i="1">
                                      <a:solidFill>
                                        <a:schemeClr val="bg1"/>
                                      </a:solidFill>
                                      <a:latin typeface="Cambria Math" panose="02040503050406030204" pitchFamily="18" charset="0"/>
                                    </a:rPr>
                                    <m:t>𝐿</m:t>
                                  </m:r>
                                </m:e>
                                <m:sub>
                                  <m:r>
                                    <a:rPr lang="en-IN" sz="2000" i="1">
                                      <a:solidFill>
                                        <a:schemeClr val="bg1"/>
                                      </a:solidFill>
                                      <a:latin typeface="Cambria Math" panose="02040503050406030204" pitchFamily="18" charset="0"/>
                                    </a:rPr>
                                    <m:t>𝑡</m:t>
                                  </m:r>
                                </m:sub>
                              </m:sSub>
                              <m:r>
                                <a:rPr lang="en-IN" sz="2000" i="1">
                                  <a:solidFill>
                                    <a:schemeClr val="bg1"/>
                                  </a:solidFill>
                                  <a:latin typeface="Cambria Math" panose="02040503050406030204" pitchFamily="18" charset="0"/>
                                </a:rPr>
                                <m:t>,</m:t>
                              </m:r>
                              <m:sSub>
                                <m:sSubPr>
                                  <m:ctrlPr>
                                    <a:rPr lang="en-IN" sz="2000" i="1">
                                      <a:solidFill>
                                        <a:schemeClr val="bg1"/>
                                      </a:solidFill>
                                      <a:latin typeface="Cambria Math" panose="02040503050406030204" pitchFamily="18" charset="0"/>
                                    </a:rPr>
                                  </m:ctrlPr>
                                </m:sSubPr>
                                <m:e>
                                  <m:r>
                                    <a:rPr lang="en-IN" sz="2000" i="1">
                                      <a:solidFill>
                                        <a:schemeClr val="bg1"/>
                                      </a:solidFill>
                                      <a:latin typeface="Cambria Math" panose="02040503050406030204" pitchFamily="18" charset="0"/>
                                    </a:rPr>
                                    <m:t>𝐿</m:t>
                                  </m:r>
                                </m:e>
                                <m:sub>
                                  <m:r>
                                    <a:rPr lang="en-IN" sz="2000" i="1">
                                      <a:solidFill>
                                        <a:schemeClr val="bg1"/>
                                      </a:solidFill>
                                      <a:latin typeface="Cambria Math" panose="02040503050406030204" pitchFamily="18" charset="0"/>
                                    </a:rPr>
                                    <m:t>𝑡</m:t>
                                  </m:r>
                                  <m:r>
                                    <a:rPr lang="en-IN" sz="2000" i="1">
                                      <a:solidFill>
                                        <a:schemeClr val="bg1"/>
                                      </a:solidFill>
                                      <a:latin typeface="Cambria Math" panose="02040503050406030204" pitchFamily="18" charset="0"/>
                                    </a:rPr>
                                    <m:t>−1</m:t>
                                  </m:r>
                                </m:sub>
                              </m:sSub>
                            </m:e>
                          </m:d>
                          <m:r>
                            <a:rPr lang="en-IN" sz="2000" i="1">
                              <a:solidFill>
                                <a:schemeClr val="bg1"/>
                              </a:solidFill>
                              <a:latin typeface="Cambria Math" panose="02040503050406030204" pitchFamily="18" charset="0"/>
                            </a:rPr>
                            <m:t>=</m:t>
                          </m:r>
                          <m:d>
                            <m:dPr>
                              <m:ctrlPr>
                                <a:rPr lang="en-IN" sz="2000" i="1">
                                  <a:solidFill>
                                    <a:schemeClr val="bg1"/>
                                  </a:solidFill>
                                  <a:latin typeface="Cambria Math" panose="02040503050406030204" pitchFamily="18" charset="0"/>
                                </a:rPr>
                              </m:ctrlPr>
                            </m:dPr>
                            <m:e>
                              <m:r>
                                <a:rPr lang="en-IN" sz="2000" i="1">
                                  <a:solidFill>
                                    <a:schemeClr val="bg1"/>
                                  </a:solidFill>
                                  <a:latin typeface="Cambria Math" panose="02040503050406030204" pitchFamily="18" charset="0"/>
                                </a:rPr>
                                <m:t>𝑖</m:t>
                              </m:r>
                              <m:r>
                                <a:rPr lang="en-IN" sz="2000" i="1">
                                  <a:solidFill>
                                    <a:schemeClr val="bg1"/>
                                  </a:solidFill>
                                  <a:latin typeface="Cambria Math" panose="02040503050406030204" pitchFamily="18" charset="0"/>
                                </a:rPr>
                                <m:t>,</m:t>
                              </m:r>
                              <m:r>
                                <a:rPr lang="en-IN" sz="2000" i="1">
                                  <a:solidFill>
                                    <a:schemeClr val="bg1"/>
                                  </a:solidFill>
                                  <a:latin typeface="Cambria Math" panose="02040503050406030204" pitchFamily="18" charset="0"/>
                                </a:rPr>
                                <m:t>𝑗</m:t>
                              </m:r>
                            </m:e>
                          </m:d>
                          <m:r>
                            <m:rPr>
                              <m:lit/>
                            </m:rPr>
                            <a:rPr lang="en-IN" sz="2000" i="1">
                              <a:solidFill>
                                <a:schemeClr val="bg1"/>
                              </a:solidFill>
                              <a:latin typeface="Cambria Math" panose="02040503050406030204" pitchFamily="18" charset="0"/>
                            </a:rPr>
                            <m:t>}</m:t>
                          </m:r>
                        </m:sub>
                      </m:sSub>
                    </m:oMath>
                  </m:oMathPara>
                </a14:m>
                <a:endParaRPr lang="en-IN" sz="2000" dirty="0">
                  <a:solidFill>
                    <a:schemeClr val="bg1"/>
                  </a:solidFill>
                </a:endParaRPr>
              </a:p>
              <a:p>
                <a14:m>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ℱ</m:t>
                        </m:r>
                      </m:e>
                      <m:sub>
                        <m:r>
                          <a:rPr lang="en-US" sz="2000" b="0" i="1" smtClean="0">
                            <a:solidFill>
                              <a:schemeClr val="bg1"/>
                            </a:solidFill>
                            <a:latin typeface="Cambria Math" panose="02040503050406030204" pitchFamily="18" charset="0"/>
                          </a:rPr>
                          <m:t>𝓉</m:t>
                        </m:r>
                      </m:sub>
                    </m:sSub>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𝜎</m:t>
                    </m:r>
                    <m:d>
                      <m:dPr>
                        <m:ctrlPr>
                          <a:rPr lang="en-US" sz="2000" b="0" i="1" smtClean="0">
                            <a:solidFill>
                              <a:schemeClr val="bg1"/>
                            </a:solidFill>
                            <a:latin typeface="Cambria Math" panose="02040503050406030204" pitchFamily="18" charset="0"/>
                          </a:rPr>
                        </m:ctrlPr>
                      </m:dPr>
                      <m:e>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𝐿</m:t>
                            </m:r>
                          </m:e>
                          <m:sub>
                            <m:r>
                              <a:rPr lang="en-US" sz="2000" b="0" i="1" smtClean="0">
                                <a:solidFill>
                                  <a:schemeClr val="bg1"/>
                                </a:solidFill>
                                <a:latin typeface="Cambria Math" panose="02040503050406030204" pitchFamily="18" charset="0"/>
                              </a:rPr>
                              <m:t>0</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𝐿</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𝐿</m:t>
                            </m:r>
                          </m:e>
                          <m:sub>
                            <m:r>
                              <a:rPr lang="en-US" sz="2000" b="0" i="1" smtClean="0">
                                <a:solidFill>
                                  <a:schemeClr val="bg1"/>
                                </a:solidFill>
                                <a:latin typeface="Cambria Math" panose="02040503050406030204" pitchFamily="18" charset="0"/>
                              </a:rPr>
                              <m:t>𝑡</m:t>
                            </m:r>
                          </m:sub>
                        </m:sSub>
                      </m:e>
                    </m:d>
                  </m:oMath>
                </a14:m>
                <a:r>
                  <a:rPr lang="en-US" sz="2000" dirty="0">
                    <a:solidFill>
                      <a:schemeClr val="bg1"/>
                    </a:solidFill>
                  </a:rPr>
                  <a:t>. Note that here at first the joining is done then the </a:t>
                </a:r>
                <a:r>
                  <a:rPr lang="en-US" sz="2000" dirty="0" err="1">
                    <a:solidFill>
                      <a:schemeClr val="bg1"/>
                    </a:solidFill>
                  </a:rPr>
                  <a:t>updation</a:t>
                </a:r>
                <a:r>
                  <a:rPr lang="en-US" sz="2000" dirty="0">
                    <a:solidFill>
                      <a:schemeClr val="bg1"/>
                    </a:solidFill>
                  </a:rPr>
                  <a:t> of </a:t>
                </a:r>
                <a14:m>
                  <m:oMath xmlns:m="http://schemas.openxmlformats.org/officeDocument/2006/math">
                    <m:r>
                      <m:rPr>
                        <m:sty m:val="p"/>
                      </m:rPr>
                      <a:rPr lang="en-US" sz="2000" b="0" i="1" smtClean="0">
                        <a:solidFill>
                          <a:schemeClr val="bg1"/>
                        </a:solidFill>
                        <a:latin typeface="Cambria Math" panose="02040503050406030204" pitchFamily="18" charset="0"/>
                      </a:rPr>
                      <m:t>W</m:t>
                    </m:r>
                    <m:r>
                      <a:rPr lang="en-US" sz="2000" b="0" i="1" smtClean="0">
                        <a:solidFill>
                          <a:schemeClr val="bg1"/>
                        </a:solidFill>
                        <a:latin typeface="Cambria Math" panose="02040503050406030204" pitchFamily="18" charset="0"/>
                      </a:rPr>
                      <m:t>(</m:t>
                    </m:r>
                    <m:r>
                      <m:rPr>
                        <m:sty m:val="p"/>
                      </m:rPr>
                      <a:rPr lang="en-US" sz="2000" b="0" i="1" smtClean="0">
                        <a:solidFill>
                          <a:schemeClr val="bg1"/>
                        </a:solidFill>
                        <a:latin typeface="Cambria Math" panose="02040503050406030204" pitchFamily="18" charset="0"/>
                      </a:rPr>
                      <m:t>e</m:t>
                    </m:r>
                    <m:r>
                      <a:rPr lang="en-US" sz="2000" b="0" i="1" smtClean="0">
                        <a:solidFill>
                          <a:schemeClr val="bg1"/>
                        </a:solidFill>
                        <a:latin typeface="Cambria Math" panose="02040503050406030204" pitchFamily="18" charset="0"/>
                      </a:rPr>
                      <m:t>,0)</m:t>
                    </m:r>
                  </m:oMath>
                </a14:m>
                <a:r>
                  <a:rPr lang="en-US" sz="2000" dirty="0">
                    <a:solidFill>
                      <a:schemeClr val="bg1"/>
                    </a:solidFill>
                  </a:rPr>
                  <a:t> is             done. Then the following theorem holds.</a:t>
                </a:r>
                <a:endParaRPr lang="en-IN" sz="2000" dirty="0">
                  <a:solidFill>
                    <a:schemeClr val="bg1"/>
                  </a:solidFill>
                </a:endParaRPr>
              </a:p>
            </p:txBody>
          </p:sp>
        </mc:Choice>
        <mc:Fallback xmlns="">
          <p:sp>
            <p:nvSpPr>
              <p:cNvPr id="3" name="TextBox 2">
                <a:extLst>
                  <a:ext uri="{FF2B5EF4-FFF2-40B4-BE49-F238E27FC236}">
                    <a16:creationId xmlns:a16="http://schemas.microsoft.com/office/drawing/2014/main" id="{DA4EFA32-7589-4F06-200D-3BCF54402614}"/>
                  </a:ext>
                </a:extLst>
              </p:cNvPr>
              <p:cNvSpPr txBox="1">
                <a:spLocks noRot="1" noChangeAspect="1" noMove="1" noResize="1" noEditPoints="1" noAdjustHandles="1" noChangeArrowheads="1" noChangeShapeType="1" noTextEdit="1"/>
              </p:cNvSpPr>
              <p:nvPr/>
            </p:nvSpPr>
            <p:spPr>
              <a:xfrm>
                <a:off x="444500" y="1540042"/>
                <a:ext cx="10807700" cy="3881897"/>
              </a:xfrm>
              <a:prstGeom prst="rect">
                <a:avLst/>
              </a:prstGeom>
              <a:blipFill>
                <a:blip r:embed="rId2"/>
                <a:stretch>
                  <a:fillRect l="-620" t="-786" r="-959" b="-2044"/>
                </a:stretch>
              </a:blipFill>
            </p:spPr>
            <p:txBody>
              <a:bodyPr/>
              <a:lstStyle/>
              <a:p>
                <a:r>
                  <a:rPr lang="en-IN">
                    <a:noFill/>
                  </a:rPr>
                  <a:t> </a:t>
                </a:r>
              </a:p>
            </p:txBody>
          </p:sp>
        </mc:Fallback>
      </mc:AlternateContent>
    </p:spTree>
    <p:extLst>
      <p:ext uri="{BB962C8B-B14F-4D97-AF65-F5344CB8AC3E}">
        <p14:creationId xmlns:p14="http://schemas.microsoft.com/office/powerpoint/2010/main" val="332230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95985AAE-156E-0339-2795-3E29727C45A8}"/>
                  </a:ext>
                </a:extLst>
              </p:cNvPr>
              <p:cNvSpPr>
                <a:spLocks noGrp="1"/>
              </p:cNvSpPr>
              <p:nvPr>
                <p:ph type="title"/>
              </p:nvPr>
            </p:nvSpPr>
            <p:spPr>
              <a:xfrm>
                <a:off x="533399" y="3200400"/>
                <a:ext cx="11125201" cy="2859313"/>
              </a:xfrm>
            </p:spPr>
            <p:txBody>
              <a:bodyPr>
                <a:normAutofit fontScale="90000"/>
              </a:bodyPr>
              <a:lstStyle/>
              <a:p>
                <a:pPr marL="342900" indent="-342900">
                  <a:buFont typeface="Wingdings" panose="05000000000000000000" pitchFamily="2" charset="2"/>
                  <a:buChar char="q"/>
                </a:pPr>
                <a:r>
                  <a:rPr lang="en-US" sz="2000" dirty="0">
                    <a:latin typeface="+mn-lt"/>
                  </a:rPr>
                  <a:t>Suppose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𝐿</m:t>
                        </m:r>
                      </m:e>
                      <m:sub>
                        <m:r>
                          <a:rPr lang="en-US" sz="2000" b="0" i="1" smtClean="0">
                            <a:latin typeface="Cambria Math" panose="02040503050406030204" pitchFamily="18" charset="0"/>
                          </a:rPr>
                          <m:t>𝑡</m:t>
                        </m:r>
                      </m:sub>
                    </m:sSub>
                  </m:oMath>
                </a14:m>
                <a:r>
                  <a:rPr lang="en-US" sz="2000" dirty="0">
                    <a:latin typeface="+mn-lt"/>
                  </a:rPr>
                  <a:t> is an ERRW with on G=(V,E) then new weights constructed keeping the constraint that sum of them should be 1, that is </a:t>
                </a:r>
                <a14:m>
                  <m:oMath xmlns:m="http://schemas.openxmlformats.org/officeDocument/2006/math">
                    <m:r>
                      <a:rPr lang="en-US" sz="2000" b="0" i="1" smtClean="0">
                        <a:latin typeface="Cambria Math" panose="02040503050406030204" pitchFamily="18" charset="0"/>
                      </a:rPr>
                      <m:t>𝑤</m:t>
                    </m:r>
                    <m:d>
                      <m:dPr>
                        <m:ctrlPr>
                          <a:rPr lang="en-US" sz="2000" b="0" i="1" smtClean="0">
                            <a:latin typeface="Cambria Math" panose="02040503050406030204" pitchFamily="18" charset="0"/>
                          </a:rPr>
                        </m:ctrlPr>
                      </m:d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m:t>
                        </m:r>
                        <m:r>
                          <a:rPr lang="en-US" sz="2000" b="0" i="1" smtClean="0">
                            <a:latin typeface="Cambria Math" panose="02040503050406030204" pitchFamily="18" charset="0"/>
                          </a:rPr>
                          <m:t>𝑡</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𝑤</m:t>
                        </m:r>
                        <m:d>
                          <m:dPr>
                            <m:ctrlPr>
                              <a:rPr lang="en-US" sz="2000" b="0" i="1" smtClean="0">
                                <a:latin typeface="Cambria Math" panose="02040503050406030204" pitchFamily="18" charset="0"/>
                              </a:rPr>
                            </m:ctrlPr>
                          </m:d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m:t>
                            </m:r>
                            <m:r>
                              <a:rPr lang="en-US" sz="2000" b="0" i="1" smtClean="0">
                                <a:latin typeface="Cambria Math" panose="02040503050406030204" pitchFamily="18" charset="0"/>
                              </a:rPr>
                              <m:t>𝑡</m:t>
                            </m:r>
                          </m:e>
                        </m:d>
                      </m:num>
                      <m:den>
                        <m:nary>
                          <m:naryPr>
                            <m:chr m:val="∑"/>
                            <m:subHide m:val="on"/>
                            <m:supHide m:val="on"/>
                            <m:ctrlPr>
                              <a:rPr lang="en-US" sz="2000" b="0" i="1" smtClean="0">
                                <a:latin typeface="Cambria Math" panose="02040503050406030204" pitchFamily="18" charset="0"/>
                              </a:rPr>
                            </m:ctrlPr>
                          </m:naryPr>
                          <m:sub/>
                          <m:sup/>
                          <m:e>
                            <m:r>
                              <a:rPr lang="en-US" sz="2000" b="0" i="1" smtClean="0">
                                <a:latin typeface="Cambria Math" panose="02040503050406030204" pitchFamily="18" charset="0"/>
                              </a:rPr>
                              <m:t>𝑤</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𝑒</m:t>
                                </m:r>
                                <m:r>
                                  <a:rPr lang="en-US" sz="2000" b="0" i="1" smtClean="0">
                                    <a:latin typeface="Cambria Math" panose="02040503050406030204" pitchFamily="18" charset="0"/>
                                  </a:rPr>
                                  <m:t>,</m:t>
                                </m:r>
                                <m:r>
                                  <a:rPr lang="en-US" sz="2000" b="0" i="1" smtClean="0">
                                    <a:latin typeface="Cambria Math" panose="02040503050406030204" pitchFamily="18" charset="0"/>
                                  </a:rPr>
                                  <m:t>𝑡</m:t>
                                </m:r>
                              </m:e>
                            </m:d>
                          </m:e>
                        </m:nary>
                      </m:den>
                    </m:f>
                  </m:oMath>
                </a14:m>
                <a:r>
                  <a:rPr lang="en-US" sz="2000" dirty="0">
                    <a:latin typeface="+mn-lt"/>
                  </a:rPr>
                  <a:t>, for fixed </a:t>
                </a: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m:t>
                    </m:r>
                    <m:r>
                      <a:rPr lang="en-US" sz="2000" b="0" i="1" smtClean="0">
                        <a:latin typeface="Cambria Math" panose="02040503050406030204" pitchFamily="18" charset="0"/>
                      </a:rPr>
                      <m:t>𝐸</m:t>
                    </m:r>
                  </m:oMath>
                </a14:m>
                <a:r>
                  <a:rPr lang="en-US" sz="2000" dirty="0">
                    <a:latin typeface="+mn-lt"/>
                  </a:rPr>
                  <a:t>, it converges to a random limit continuous with respect to the </a:t>
                </a:r>
                <a:r>
                  <a:rPr lang="en-US" sz="2000" dirty="0" err="1">
                    <a:latin typeface="+mn-lt"/>
                  </a:rPr>
                  <a:t>lebesgue</a:t>
                </a:r>
                <a:r>
                  <a:rPr lang="en-US" sz="2000" dirty="0">
                    <a:latin typeface="+mn-lt"/>
                  </a:rPr>
                  <a:t> measure in distribution. As per our </a:t>
                </a:r>
                <a:r>
                  <a:rPr lang="en-US" sz="2000">
                    <a:latin typeface="+mn-lt"/>
                  </a:rPr>
                  <a:t>model  Assumption,   </a:t>
                </a:r>
                <a:br>
                  <a:rPr lang="en-US" sz="2000" dirty="0">
                    <a:latin typeface="+mn-lt"/>
                  </a:rPr>
                </a:br>
                <a14:m>
                  <m:oMath xmlns:m="http://schemas.openxmlformats.org/officeDocument/2006/math">
                    <m:f>
                      <m:fPr>
                        <m:ctrlPr>
                          <a:rPr lang="en-US" sz="2000" i="1">
                            <a:latin typeface="Cambria Math" panose="02040503050406030204" pitchFamily="18" charset="0"/>
                          </a:rPr>
                        </m:ctrlPr>
                      </m:fPr>
                      <m:num>
                        <m:sSubSup>
                          <m:sSubSupPr>
                            <m:ctrlPr>
                              <a:rPr lang="en-US" sz="2000" i="1">
                                <a:latin typeface="Cambria Math" panose="02040503050406030204" pitchFamily="18" charset="0"/>
                              </a:rPr>
                            </m:ctrlPr>
                          </m:sSubSupPr>
                          <m:e>
                            <m:r>
                              <a:rPr lang="en-US" sz="2000" i="1">
                                <a:latin typeface="Cambria Math" panose="02040503050406030204" pitchFamily="18" charset="0"/>
                              </a:rPr>
                              <m:t>𝑌</m:t>
                            </m:r>
                          </m:e>
                          <m:sub>
                            <m:r>
                              <a:rPr lang="en-US" sz="2000" i="1">
                                <a:latin typeface="Cambria Math" panose="02040503050406030204" pitchFamily="18" charset="0"/>
                              </a:rPr>
                              <m:t>𝑡</m:t>
                            </m:r>
                          </m:sub>
                          <m:sup>
                            <m:r>
                              <a:rPr lang="en-US" sz="2000" i="1">
                                <a:latin typeface="Cambria Math" panose="02040503050406030204" pitchFamily="18" charset="0"/>
                              </a:rPr>
                              <m:t>𝑗</m:t>
                            </m:r>
                          </m:sup>
                        </m:sSubSup>
                        <m:d>
                          <m:dPr>
                            <m:ctrlPr>
                              <a:rPr lang="en-US" sz="2000" i="1">
                                <a:latin typeface="Cambria Math" panose="02040503050406030204" pitchFamily="18" charset="0"/>
                              </a:rPr>
                            </m:ctrlPr>
                          </m:dPr>
                          <m:e>
                            <m:r>
                              <a:rPr lang="en-US" sz="2000" i="1">
                                <a:latin typeface="Cambria Math" panose="02040503050406030204" pitchFamily="18" charset="0"/>
                              </a:rPr>
                              <m:t>𝜔</m:t>
                            </m:r>
                          </m:e>
                        </m:d>
                      </m:num>
                      <m:den>
                        <m:nary>
                          <m:naryPr>
                            <m:chr m:val="∑"/>
                            <m:supHide m:val="on"/>
                            <m:ctrlPr>
                              <a:rPr lang="en-US" sz="2000" i="1">
                                <a:latin typeface="Cambria Math" panose="02040503050406030204" pitchFamily="18" charset="0"/>
                              </a:rPr>
                            </m:ctrlPr>
                          </m:naryPr>
                          <m:sub>
                            <m:r>
                              <a:rPr lang="en-US" sz="2000" i="1">
                                <a:latin typeface="Cambria Math" panose="02040503050406030204" pitchFamily="18" charset="0"/>
                              </a:rPr>
                              <m:t>𝑒</m:t>
                            </m:r>
                          </m:sub>
                          <m:sup/>
                          <m:e>
                            <m:r>
                              <a:rPr lang="en-US" sz="2000" i="1">
                                <a:latin typeface="Cambria Math" panose="02040503050406030204" pitchFamily="18" charset="0"/>
                              </a:rPr>
                              <m:t>𝑤</m:t>
                            </m:r>
                            <m:d>
                              <m:dPr>
                                <m:ctrlPr>
                                  <a:rPr lang="en-US" sz="2000" i="1">
                                    <a:latin typeface="Cambria Math" panose="02040503050406030204" pitchFamily="18" charset="0"/>
                                  </a:rPr>
                                </m:ctrlPr>
                              </m:dPr>
                              <m:e>
                                <m:r>
                                  <a:rPr lang="en-US" sz="2000" i="1">
                                    <a:latin typeface="Cambria Math" panose="02040503050406030204" pitchFamily="18" charset="0"/>
                                  </a:rPr>
                                  <m:t>𝑒</m:t>
                                </m:r>
                                <m:r>
                                  <a:rPr lang="en-US" sz="2000" i="1">
                                    <a:latin typeface="Cambria Math" panose="02040503050406030204" pitchFamily="18" charset="0"/>
                                  </a:rPr>
                                  <m:t>,</m:t>
                                </m:r>
                                <m:r>
                                  <a:rPr lang="en-US" sz="2000" i="1">
                                    <a:latin typeface="Cambria Math" panose="02040503050406030204" pitchFamily="18" charset="0"/>
                                  </a:rPr>
                                  <m:t>𝑡</m:t>
                                </m:r>
                              </m:e>
                            </m:d>
                          </m:e>
                        </m:nary>
                      </m:den>
                    </m:f>
                    <m:r>
                      <a:rPr lang="en-US" sz="2000" i="1">
                        <a:latin typeface="Cambria Math" panose="02040503050406030204" pitchFamily="18" charset="0"/>
                      </a:rPr>
                      <m:t>=</m:t>
                    </m:r>
                    <m:f>
                      <m:fPr>
                        <m:ctrlPr>
                          <a:rPr lang="en-US" sz="2000" i="1">
                            <a:latin typeface="Cambria Math" panose="02040503050406030204" pitchFamily="18" charset="0"/>
                          </a:rPr>
                        </m:ctrlPr>
                      </m:fPr>
                      <m:num>
                        <m:sSubSup>
                          <m:sSubSupPr>
                            <m:ctrlPr>
                              <a:rPr lang="en-US" sz="2000" i="1">
                                <a:latin typeface="Cambria Math" panose="02040503050406030204" pitchFamily="18" charset="0"/>
                              </a:rPr>
                            </m:ctrlPr>
                          </m:sSubSupPr>
                          <m:e>
                            <m:r>
                              <a:rPr lang="en-US" sz="2000" i="1">
                                <a:latin typeface="Cambria Math" panose="02040503050406030204" pitchFamily="18" charset="0"/>
                              </a:rPr>
                              <m:t>𝑌</m:t>
                            </m:r>
                          </m:e>
                          <m:sub>
                            <m:r>
                              <a:rPr lang="en-US" sz="2000" i="1">
                                <a:latin typeface="Cambria Math" panose="02040503050406030204" pitchFamily="18" charset="0"/>
                              </a:rPr>
                              <m:t>0</m:t>
                            </m:r>
                          </m:sub>
                          <m:sup>
                            <m:r>
                              <a:rPr lang="en-US" sz="2000" i="1">
                                <a:latin typeface="Cambria Math" panose="02040503050406030204" pitchFamily="18" charset="0"/>
                              </a:rPr>
                              <m:t>𝑗</m:t>
                            </m:r>
                          </m:sup>
                        </m:sSubSup>
                        <m:d>
                          <m:dPr>
                            <m:ctrlPr>
                              <a:rPr lang="en-US" sz="2000" i="1">
                                <a:latin typeface="Cambria Math" panose="02040503050406030204" pitchFamily="18" charset="0"/>
                              </a:rPr>
                            </m:ctrlPr>
                          </m:dPr>
                          <m:e>
                            <m:r>
                              <a:rPr lang="en-US" sz="2000" i="1">
                                <a:latin typeface="Cambria Math" panose="02040503050406030204" pitchFamily="18" charset="0"/>
                              </a:rPr>
                              <m:t>𝜔</m:t>
                            </m:r>
                          </m:e>
                        </m:d>
                      </m:num>
                      <m:den>
                        <m:nary>
                          <m:naryPr>
                            <m:chr m:val="∑"/>
                            <m:supHide m:val="on"/>
                            <m:ctrlPr>
                              <a:rPr lang="en-US" sz="2000" i="1">
                                <a:latin typeface="Cambria Math" panose="02040503050406030204" pitchFamily="18" charset="0"/>
                              </a:rPr>
                            </m:ctrlPr>
                          </m:naryPr>
                          <m:sub>
                            <m:r>
                              <a:rPr lang="en-US" sz="2000" i="1">
                                <a:latin typeface="Cambria Math" panose="02040503050406030204" pitchFamily="18" charset="0"/>
                              </a:rPr>
                              <m:t>𝑒</m:t>
                            </m:r>
                          </m:sub>
                          <m:sup/>
                          <m:e>
                            <m:r>
                              <a:rPr lang="en-US" sz="2000" i="1">
                                <a:latin typeface="Cambria Math" panose="02040503050406030204" pitchFamily="18" charset="0"/>
                              </a:rPr>
                              <m:t>𝑤</m:t>
                            </m:r>
                            <m:d>
                              <m:dPr>
                                <m:ctrlPr>
                                  <a:rPr lang="en-US" sz="2000" i="1">
                                    <a:latin typeface="Cambria Math" panose="02040503050406030204" pitchFamily="18" charset="0"/>
                                  </a:rPr>
                                </m:ctrlPr>
                              </m:dPr>
                              <m:e>
                                <m:r>
                                  <a:rPr lang="en-US" sz="2000" i="1">
                                    <a:latin typeface="Cambria Math" panose="02040503050406030204" pitchFamily="18" charset="0"/>
                                  </a:rPr>
                                  <m:t>𝑒</m:t>
                                </m:r>
                                <m:r>
                                  <a:rPr lang="en-US" sz="2000" i="1">
                                    <a:latin typeface="Cambria Math" panose="02040503050406030204" pitchFamily="18" charset="0"/>
                                  </a:rPr>
                                  <m:t>,</m:t>
                                </m:r>
                                <m:r>
                                  <a:rPr lang="en-US" sz="2000" i="1">
                                    <a:latin typeface="Cambria Math" panose="02040503050406030204" pitchFamily="18" charset="0"/>
                                  </a:rPr>
                                  <m:t>𝑡</m:t>
                                </m:r>
                              </m:e>
                            </m:d>
                          </m:e>
                        </m:nary>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𝑤</m:t>
                        </m:r>
                        <m:d>
                          <m:dPr>
                            <m:ctrlPr>
                              <a:rPr lang="en-US" sz="2000" i="1">
                                <a:latin typeface="Cambria Math" panose="02040503050406030204" pitchFamily="18" charset="0"/>
                              </a:rPr>
                            </m:ctrlPr>
                          </m:dPr>
                          <m:e>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𝐿</m:t>
                                    </m:r>
                                  </m:e>
                                  <m:sub>
                                    <m:r>
                                      <a:rPr lang="en-US" sz="2000" i="1">
                                        <a:latin typeface="Cambria Math" panose="02040503050406030204" pitchFamily="18" charset="0"/>
                                      </a:rPr>
                                      <m:t>𝑡</m:t>
                                    </m:r>
                                    <m:r>
                                      <a:rPr lang="en-US" sz="2000" i="1">
                                        <a:latin typeface="Cambria Math" panose="02040503050406030204" pitchFamily="18" charset="0"/>
                                      </a:rPr>
                                      <m:t>−1</m:t>
                                    </m:r>
                                  </m:sub>
                                </m:sSub>
                                <m:r>
                                  <a:rPr lang="en-US" sz="2000" i="1">
                                    <a:latin typeface="Cambria Math" panose="02040503050406030204" pitchFamily="18" charset="0"/>
                                  </a:rPr>
                                  <m:t>,</m:t>
                                </m:r>
                                <m:r>
                                  <a:rPr lang="en-US" sz="2000" i="1">
                                    <a:latin typeface="Cambria Math" panose="02040503050406030204" pitchFamily="18" charset="0"/>
                                  </a:rPr>
                                  <m:t>𝑗</m:t>
                                </m:r>
                              </m:e>
                            </m:d>
                            <m:r>
                              <a:rPr lang="en-US" sz="2000" i="1">
                                <a:latin typeface="Cambria Math" panose="02040503050406030204" pitchFamily="18" charset="0"/>
                              </a:rPr>
                              <m:t>,</m:t>
                            </m:r>
                            <m:r>
                              <a:rPr lang="en-US" sz="2000" i="1">
                                <a:latin typeface="Cambria Math" panose="02040503050406030204" pitchFamily="18" charset="0"/>
                              </a:rPr>
                              <m:t>𝑡</m:t>
                            </m:r>
                            <m:r>
                              <a:rPr lang="en-US" sz="2000" i="1">
                                <a:latin typeface="Cambria Math" panose="02040503050406030204" pitchFamily="18" charset="0"/>
                              </a:rPr>
                              <m:t>−1</m:t>
                            </m:r>
                          </m:e>
                        </m:d>
                      </m:num>
                      <m:den>
                        <m:nary>
                          <m:naryPr>
                            <m:chr m:val="∑"/>
                            <m:supHide m:val="on"/>
                            <m:ctrlPr>
                              <a:rPr lang="en-US" sz="2000" i="1">
                                <a:latin typeface="Cambria Math" panose="02040503050406030204" pitchFamily="18" charset="0"/>
                              </a:rPr>
                            </m:ctrlPr>
                          </m:naryPr>
                          <m:sub>
                            <m:r>
                              <a:rPr lang="en-US" sz="2000" i="1">
                                <a:latin typeface="Cambria Math" panose="02040503050406030204" pitchFamily="18" charset="0"/>
                              </a:rPr>
                              <m:t>𝑒</m:t>
                            </m:r>
                          </m:sub>
                          <m:sup/>
                          <m:e>
                            <m:r>
                              <a:rPr lang="en-US" sz="2000" i="1">
                                <a:latin typeface="Cambria Math" panose="02040503050406030204" pitchFamily="18" charset="0"/>
                              </a:rPr>
                              <m:t>𝑤</m:t>
                            </m:r>
                            <m:d>
                              <m:dPr>
                                <m:ctrlPr>
                                  <a:rPr lang="en-US" sz="2000" i="1">
                                    <a:latin typeface="Cambria Math" panose="02040503050406030204" pitchFamily="18" charset="0"/>
                                  </a:rPr>
                                </m:ctrlPr>
                              </m:dPr>
                              <m:e>
                                <m:r>
                                  <a:rPr lang="en-US" sz="2000" i="1">
                                    <a:latin typeface="Cambria Math" panose="02040503050406030204" pitchFamily="18" charset="0"/>
                                  </a:rPr>
                                  <m:t>𝑒</m:t>
                                </m:r>
                                <m:r>
                                  <a:rPr lang="en-US" sz="2000" i="1">
                                    <a:latin typeface="Cambria Math" panose="02040503050406030204" pitchFamily="18" charset="0"/>
                                  </a:rPr>
                                  <m:t>,</m:t>
                                </m:r>
                                <m:r>
                                  <a:rPr lang="en-US" sz="2000" i="1">
                                    <a:latin typeface="Cambria Math" panose="02040503050406030204" pitchFamily="18" charset="0"/>
                                  </a:rPr>
                                  <m:t>𝑡</m:t>
                                </m:r>
                              </m:e>
                            </m:d>
                          </m:e>
                        </m:nary>
                      </m:den>
                    </m:f>
                  </m:oMath>
                </a14:m>
                <a:br>
                  <a:rPr lang="en-IN" sz="2000" dirty="0">
                    <a:latin typeface="+mn-lt"/>
                  </a:rPr>
                </a:br>
                <a:br>
                  <a:rPr lang="en-IN" sz="2000" dirty="0">
                    <a:latin typeface="+mn-lt"/>
                  </a:rPr>
                </a:br>
                <a:r>
                  <a:rPr lang="en-IN" sz="2000" dirty="0">
                    <a:latin typeface="+mn-lt"/>
                  </a:rPr>
                  <a:t>This imply, </a:t>
                </a:r>
                <a14:m>
                  <m:oMath xmlns:m="http://schemas.openxmlformats.org/officeDocument/2006/math">
                    <m:f>
                      <m:fPr>
                        <m:ctrlPr>
                          <a:rPr lang="en-US" sz="2000" b="0" i="1" smtClean="0">
                            <a:latin typeface="Cambria Math" panose="02040503050406030204" pitchFamily="18" charset="0"/>
                          </a:rPr>
                        </m:ctrlPr>
                      </m:fPr>
                      <m:num>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𝑌</m:t>
                            </m:r>
                          </m:e>
                          <m:sub>
                            <m:r>
                              <a:rPr lang="en-US" sz="2000" b="0" i="1" smtClean="0">
                                <a:latin typeface="Cambria Math" panose="02040503050406030204" pitchFamily="18" charset="0"/>
                              </a:rPr>
                              <m:t>𝑡</m:t>
                            </m:r>
                          </m:sub>
                          <m:sup>
                            <m:r>
                              <a:rPr lang="en-US" sz="2000" b="0" i="1" smtClean="0">
                                <a:latin typeface="Cambria Math" panose="02040503050406030204" pitchFamily="18" charset="0"/>
                              </a:rPr>
                              <m:t>𝑗</m:t>
                            </m:r>
                          </m:sup>
                        </m:sSubSup>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𝜔</m:t>
                            </m:r>
                          </m:e>
                        </m:d>
                        <m:r>
                          <a:rPr lang="en-US" sz="2000" b="0" i="1" smtClean="0">
                            <a:latin typeface="Cambria Math" panose="02040503050406030204" pitchFamily="18" charset="0"/>
                          </a:rPr>
                          <m:t>−</m:t>
                        </m:r>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𝑌</m:t>
                            </m:r>
                          </m:e>
                          <m:sub>
                            <m:r>
                              <a:rPr lang="en-US" sz="2000" b="0" i="1" smtClean="0">
                                <a:latin typeface="Cambria Math" panose="02040503050406030204" pitchFamily="18" charset="0"/>
                              </a:rPr>
                              <m:t>0</m:t>
                            </m:r>
                          </m:sub>
                          <m:sup>
                            <m:r>
                              <a:rPr lang="en-US" sz="2000" b="0" i="1" smtClean="0">
                                <a:latin typeface="Cambria Math" panose="02040503050406030204" pitchFamily="18" charset="0"/>
                              </a:rPr>
                              <m:t>𝑗</m:t>
                            </m:r>
                          </m:sup>
                        </m:sSubSup>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𝜔</m:t>
                            </m:r>
                          </m:e>
                        </m:d>
                      </m:num>
                      <m:den>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𝑘</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r>
                          <a:rPr lang="en-US" sz="2000" b="0" i="1" smtClean="0">
                            <a:latin typeface="Cambria Math" panose="02040503050406030204" pitchFamily="18" charset="0"/>
                          </a:rPr>
                          <m:t>𝑡</m:t>
                        </m:r>
                      </m:den>
                    </m:f>
                  </m:oMath>
                </a14:m>
                <a:r>
                  <a:rPr lang="en-IN" sz="2000" dirty="0">
                    <a:latin typeface="+mn-lt"/>
                  </a:rPr>
                  <a:t> i</a:t>
                </a:r>
                <a:r>
                  <a:rPr lang="en-US" sz="2000" dirty="0">
                    <a:latin typeface="+mn-lt"/>
                  </a:rPr>
                  <a:t>n distribution tends to a random limit. So the fraction of joining each community within the timet tends to a random limit as t → ∞.</a:t>
                </a:r>
                <a:endParaRPr lang="en-IN" sz="2000" dirty="0">
                  <a:latin typeface="+mn-lt"/>
                </a:endParaRPr>
              </a:p>
            </p:txBody>
          </p:sp>
        </mc:Choice>
        <mc:Fallback xmlns="">
          <p:sp>
            <p:nvSpPr>
              <p:cNvPr id="2" name="Title 1">
                <a:extLst>
                  <a:ext uri="{FF2B5EF4-FFF2-40B4-BE49-F238E27FC236}">
                    <a16:creationId xmlns:a16="http://schemas.microsoft.com/office/drawing/2014/main" id="{95985AAE-156E-0339-2795-3E29727C45A8}"/>
                  </a:ext>
                </a:extLst>
              </p:cNvPr>
              <p:cNvSpPr>
                <a:spLocks noGrp="1" noRot="1" noChangeAspect="1" noMove="1" noResize="1" noEditPoints="1" noAdjustHandles="1" noChangeArrowheads="1" noChangeShapeType="1" noTextEdit="1"/>
              </p:cNvSpPr>
              <p:nvPr>
                <p:ph type="title"/>
              </p:nvPr>
            </p:nvSpPr>
            <p:spPr>
              <a:xfrm>
                <a:off x="533399" y="3200400"/>
                <a:ext cx="11125201" cy="2859313"/>
              </a:xfrm>
              <a:blipFill>
                <a:blip r:embed="rId2"/>
                <a:stretch>
                  <a:fillRect l="-329" t="-1066"/>
                </a:stretch>
              </a:blipFill>
            </p:spPr>
            <p:txBody>
              <a:bodyPr/>
              <a:lstStyle/>
              <a:p>
                <a:r>
                  <a:rPr lang="en-IN">
                    <a:noFill/>
                  </a:rPr>
                  <a:t> </a:t>
                </a:r>
              </a:p>
            </p:txBody>
          </p:sp>
        </mc:Fallback>
      </mc:AlternateContent>
      <p:sp>
        <p:nvSpPr>
          <p:cNvPr id="3" name="Slide Number Placeholder 2">
            <a:extLst>
              <a:ext uri="{FF2B5EF4-FFF2-40B4-BE49-F238E27FC236}">
                <a16:creationId xmlns:a16="http://schemas.microsoft.com/office/drawing/2014/main" id="{2F9EC24D-167C-EF8E-EA35-CEDBE1E12192}"/>
              </a:ext>
            </a:extLst>
          </p:cNvPr>
          <p:cNvSpPr>
            <a:spLocks noGrp="1"/>
          </p:cNvSpPr>
          <p:nvPr>
            <p:ph type="sldNum" sz="quarter" idx="12"/>
          </p:nvPr>
        </p:nvSpPr>
        <p:spPr/>
        <p:txBody>
          <a:bodyPr/>
          <a:lstStyle/>
          <a:p>
            <a:fld id="{C263D6C4-4840-40CC-AC84-17E24B3B7BDE}" type="slidenum">
              <a:rPr lang="en-US" noProof="0" smtClean="0"/>
              <a:pPr/>
              <a:t>14</a:t>
            </a:fld>
            <a:endParaRPr lang="en-US" noProof="0" dirty="0"/>
          </a:p>
        </p:txBody>
      </p:sp>
      <p:sp>
        <p:nvSpPr>
          <p:cNvPr id="4" name="TextBox 3">
            <a:extLst>
              <a:ext uri="{FF2B5EF4-FFF2-40B4-BE49-F238E27FC236}">
                <a16:creationId xmlns:a16="http://schemas.microsoft.com/office/drawing/2014/main" id="{8B15F24A-2FA9-25D8-51E1-3980CE17801D}"/>
              </a:ext>
            </a:extLst>
          </p:cNvPr>
          <p:cNvSpPr txBox="1"/>
          <p:nvPr/>
        </p:nvSpPr>
        <p:spPr>
          <a:xfrm>
            <a:off x="2817844" y="2024743"/>
            <a:ext cx="4646645" cy="769441"/>
          </a:xfrm>
          <a:prstGeom prst="rect">
            <a:avLst/>
          </a:prstGeom>
          <a:noFill/>
        </p:spPr>
        <p:txBody>
          <a:bodyPr wrap="square" rtlCol="0">
            <a:spAutoFit/>
          </a:bodyPr>
          <a:lstStyle/>
          <a:p>
            <a:r>
              <a:rPr lang="en-US" sz="4400" dirty="0">
                <a:solidFill>
                  <a:schemeClr val="bg1"/>
                </a:solidFill>
                <a:latin typeface="Bahnschrift Light SemiCondensed" panose="020B0502040204020203" pitchFamily="34" charset="0"/>
              </a:rPr>
              <a:t>Theorem</a:t>
            </a:r>
            <a:endParaRPr lang="en-IN" sz="4400" dirty="0">
              <a:solidFill>
                <a:schemeClr val="bg1"/>
              </a:solidFill>
              <a:latin typeface="Bahnschrift Light SemiCondensed" panose="020B0502040204020203" pitchFamily="34" charset="0"/>
            </a:endParaRPr>
          </a:p>
        </p:txBody>
      </p:sp>
    </p:spTree>
    <p:extLst>
      <p:ext uri="{BB962C8B-B14F-4D97-AF65-F5344CB8AC3E}">
        <p14:creationId xmlns:p14="http://schemas.microsoft.com/office/powerpoint/2010/main" val="2191145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4CD37D6-FE32-48E3-A3AD-F07BE6A19FA1}"/>
              </a:ext>
            </a:extLst>
          </p:cNvPr>
          <p:cNvSpPr>
            <a:spLocks noGrp="1"/>
          </p:cNvSpPr>
          <p:nvPr>
            <p:ph type="title"/>
          </p:nvPr>
        </p:nvSpPr>
        <p:spPr>
          <a:xfrm>
            <a:off x="533399" y="3200400"/>
            <a:ext cx="11465768" cy="2859313"/>
          </a:xfrm>
        </p:spPr>
        <p:txBody>
          <a:bodyPr>
            <a:noAutofit/>
          </a:bodyPr>
          <a:lstStyle/>
          <a:p>
            <a:r>
              <a:rPr lang="en-US" sz="2000" dirty="0">
                <a:latin typeface="Bahnschrift Light SemiCondensed" panose="020B0502040204020203" pitchFamily="34" charset="0"/>
              </a:rPr>
              <a:t>The model captures dynamic evolution of community proportions. </a:t>
            </a:r>
            <a:br>
              <a:rPr lang="en-US" sz="2000" dirty="0">
                <a:latin typeface="Bahnschrift Light SemiCondensed" panose="020B0502040204020203" pitchFamily="34" charset="0"/>
              </a:rPr>
            </a:br>
            <a:r>
              <a:rPr lang="en-US" sz="2000" dirty="0">
                <a:latin typeface="Bahnschrift Light SemiCondensed" panose="020B0502040204020203" pitchFamily="34" charset="0"/>
              </a:rPr>
              <a:t>Convergence in distribution is observed in most cases, but joint convergence remains an open question. </a:t>
            </a:r>
            <a:br>
              <a:rPr lang="en-US" sz="2000" dirty="0">
                <a:latin typeface="Bahnschrift Light SemiCondensed" panose="020B0502040204020203" pitchFamily="34" charset="0"/>
              </a:rPr>
            </a:br>
            <a:r>
              <a:rPr lang="en-US" sz="2000" dirty="0">
                <a:latin typeface="Bahnschrift Light SemiCondensed" panose="020B0502040204020203" pitchFamily="34" charset="0"/>
              </a:rPr>
              <a:t>Future work includes extending the analysis to stronger convergence results.</a:t>
            </a:r>
            <a:br>
              <a:rPr lang="en-US" sz="2000" dirty="0">
                <a:latin typeface="Bahnschrift Light SemiCondensed" panose="020B0502040204020203" pitchFamily="34" charset="0"/>
              </a:rPr>
            </a:br>
            <a:endParaRPr lang="en-US" sz="2000" dirty="0">
              <a:latin typeface="Bahnschrift Light SemiCondensed" panose="020B0502040204020203" pitchFamily="34" charset="0"/>
            </a:endParaRPr>
          </a:p>
        </p:txBody>
      </p:sp>
      <p:sp>
        <p:nvSpPr>
          <p:cNvPr id="2" name="Slide Number Placeholder 1">
            <a:extLst>
              <a:ext uri="{FF2B5EF4-FFF2-40B4-BE49-F238E27FC236}">
                <a16:creationId xmlns:a16="http://schemas.microsoft.com/office/drawing/2014/main" id="{8EDC7217-2779-44E0-9E6D-3B3879516A1D}"/>
              </a:ext>
            </a:extLst>
          </p:cNvPr>
          <p:cNvSpPr>
            <a:spLocks noGrp="1"/>
          </p:cNvSpPr>
          <p:nvPr>
            <p:ph type="sldNum" sz="quarter" idx="12"/>
          </p:nvPr>
        </p:nvSpPr>
        <p:spPr/>
        <p:txBody>
          <a:bodyPr/>
          <a:lstStyle/>
          <a:p>
            <a:fld id="{C263D6C4-4840-40CC-AC84-17E24B3B7BDE}" type="slidenum">
              <a:rPr lang="en-US" smtClean="0"/>
              <a:pPr/>
              <a:t>15</a:t>
            </a:fld>
            <a:endParaRPr lang="en-US" dirty="0"/>
          </a:p>
        </p:txBody>
      </p:sp>
      <p:sp>
        <p:nvSpPr>
          <p:cNvPr id="5" name="TextBox 4">
            <a:extLst>
              <a:ext uri="{FF2B5EF4-FFF2-40B4-BE49-F238E27FC236}">
                <a16:creationId xmlns:a16="http://schemas.microsoft.com/office/drawing/2014/main" id="{C47D92F9-A245-348D-C49F-893E75AD3FBE}"/>
              </a:ext>
            </a:extLst>
          </p:cNvPr>
          <p:cNvSpPr txBox="1"/>
          <p:nvPr/>
        </p:nvSpPr>
        <p:spPr>
          <a:xfrm>
            <a:off x="2883159" y="1110343"/>
            <a:ext cx="5150498" cy="769441"/>
          </a:xfrm>
          <a:prstGeom prst="rect">
            <a:avLst/>
          </a:prstGeom>
          <a:noFill/>
        </p:spPr>
        <p:txBody>
          <a:bodyPr wrap="square" rtlCol="0">
            <a:spAutoFit/>
          </a:bodyPr>
          <a:lstStyle/>
          <a:p>
            <a:r>
              <a:rPr lang="en-US" sz="4400" dirty="0">
                <a:solidFill>
                  <a:schemeClr val="bg1"/>
                </a:solidFill>
                <a:latin typeface="Bahnschrift Light SemiCondensed" panose="020B0502040204020203" pitchFamily="34" charset="0"/>
              </a:rPr>
              <a:t>Conclusion</a:t>
            </a:r>
            <a:endParaRPr lang="en-IN" sz="4400" dirty="0">
              <a:solidFill>
                <a:schemeClr val="bg1"/>
              </a:solidFill>
              <a:latin typeface="Bahnschrift Light SemiCondensed" panose="020B0502040204020203" pitchFamily="34" charset="0"/>
            </a:endParaRPr>
          </a:p>
        </p:txBody>
      </p:sp>
    </p:spTree>
    <p:extLst>
      <p:ext uri="{BB962C8B-B14F-4D97-AF65-F5344CB8AC3E}">
        <p14:creationId xmlns:p14="http://schemas.microsoft.com/office/powerpoint/2010/main" val="914134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5085184" y="3429000"/>
            <a:ext cx="6220656" cy="1243584"/>
          </a:xfrm>
        </p:spPr>
        <p:txBody>
          <a:bodyPr/>
          <a:lstStyle/>
          <a:p>
            <a:r>
              <a:rPr lang="en-US" sz="7200" dirty="0">
                <a:latin typeface="Algerian" panose="04020705040A02060702" pitchFamily="82" charset="0"/>
              </a:rPr>
              <a:t>Thank You </a:t>
            </a:r>
            <a:endParaRPr lang="en-GB" sz="7200" dirty="0">
              <a:latin typeface="Algerian" panose="04020705040A02060702" pitchFamily="82" charset="0"/>
            </a:endParaRPr>
          </a:p>
        </p:txBody>
      </p:sp>
    </p:spTree>
    <p:extLst>
      <p:ext uri="{BB962C8B-B14F-4D97-AF65-F5344CB8AC3E}">
        <p14:creationId xmlns:p14="http://schemas.microsoft.com/office/powerpoint/2010/main" val="44069682"/>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2.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5757914-1161-4661-9696-421FD6935CDD}">
  <ds:schemaRefs>
    <ds:schemaRef ds:uri="http://schemas.microsoft.com/office/2006/metadata/properties"/>
    <ds:schemaRef ds:uri="http://purl.org/dc/elements/1.1/"/>
    <ds:schemaRef ds:uri="http://www.w3.org/XML/1998/namespace"/>
    <ds:schemaRef ds:uri="http://purl.org/dc/dcmitype/"/>
    <ds:schemaRef ds:uri="http://schemas.openxmlformats.org/package/2006/metadata/core-properties"/>
    <ds:schemaRef ds:uri="http://schemas.microsoft.com/office/infopath/2007/PartnerControls"/>
    <ds:schemaRef ds:uri="http://schemas.microsoft.com/office/2006/documentManagement/types"/>
    <ds:schemaRef ds:uri="http://purl.org/dc/terms/"/>
    <ds:schemaRef ds:uri="16c05727-aa75-4e4a-9b5f-8a80a1165891"/>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Study of a Community Evolution Model</Template>
  <TotalTime>1</TotalTime>
  <Words>1239</Words>
  <Application>Microsoft Office PowerPoint</Application>
  <PresentationFormat>Widescreen</PresentationFormat>
  <Paragraphs>113</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Algerian</vt:lpstr>
      <vt:lpstr>Arial</vt:lpstr>
      <vt:lpstr>Bahnschrift Light SemiCondensed</vt:lpstr>
      <vt:lpstr>Calibri</vt:lpstr>
      <vt:lpstr>Cambria Math</vt:lpstr>
      <vt:lpstr>Trade Gothic LT Pro</vt:lpstr>
      <vt:lpstr>Trebuchet MS</vt:lpstr>
      <vt:lpstr>Wingdings</vt:lpstr>
      <vt:lpstr>Office Theme</vt:lpstr>
      <vt:lpstr>Study of a Community Evolution Model</vt:lpstr>
      <vt:lpstr>Introduction </vt:lpstr>
      <vt:lpstr>Model Description</vt:lpstr>
      <vt:lpstr>Adaption strategies</vt:lpstr>
      <vt:lpstr>Focus of Study</vt:lpstr>
      <vt:lpstr>Assumptions</vt:lpstr>
      <vt:lpstr>Community Evolution Theory via Urn Model</vt:lpstr>
      <vt:lpstr>Community Evolution Theory via Urn Model</vt:lpstr>
      <vt:lpstr>Fixed Probability Community Evolution</vt:lpstr>
      <vt:lpstr>Fixed Probability Community Evolution</vt:lpstr>
      <vt:lpstr>Fixed Probability Community Evolution</vt:lpstr>
      <vt:lpstr>Fixed Probability Community Evolution</vt:lpstr>
      <vt:lpstr>Graph Based Community Evolution </vt:lpstr>
      <vt:lpstr>Suppose L_t is an ERRW with on G=(V,E) then new weights constructed keeping the constraint that sum of them should be 1, that is w(e^∗,t)=w(e^∗,t)/(∑▒w(e,t) ), for fixed e^∗∈E, it converges to a random limit continuous with respect to the lebesgue measure in distribution. As per our model  Assumption,    (Y_t^j (ω))/(∑_e▒w(e,t) )=(Y_0^j (ω))/(∑_e▒w(e,t) )+w((L_(t-1),j),t-1)/(∑_e▒w(e,t) )  This imply, (Y_t^j (ω)-Y_0^j (ω))/(k^2+t) in distribution tends to a random limit. So the fraction of joining each community within the timet tends to a random limit as t → ∞.</vt:lpstr>
      <vt:lpstr>The model captures dynamic evolution of community proportions.  Convergence in distribution is observed in most cases, but joint convergence remains an open question.  Future work includes extending the analysis to stronger convergence results.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SUBRATA PAUL</dc:creator>
  <cp:lastModifiedBy>SUBRATA PAUL</cp:lastModifiedBy>
  <cp:revision>2</cp:revision>
  <dcterms:created xsi:type="dcterms:W3CDTF">2025-11-09T15:55:30Z</dcterms:created>
  <dcterms:modified xsi:type="dcterms:W3CDTF">2025-11-09T15:57:27Z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